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34" y="6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2.png"/><Relationship Id="rId21" Type="http://schemas.openxmlformats.org/officeDocument/2006/relationships/image" Target="../media/image32.png"/><Relationship Id="rId7" Type="http://schemas.openxmlformats.org/officeDocument/2006/relationships/image" Target="../media/image21.png"/><Relationship Id="rId12" Type="http://schemas.openxmlformats.org/officeDocument/2006/relationships/image" Target="../media/image11.png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4.png"/><Relationship Id="rId5" Type="http://schemas.openxmlformats.org/officeDocument/2006/relationships/image" Target="../media/image15.png"/><Relationship Id="rId15" Type="http://schemas.openxmlformats.org/officeDocument/2006/relationships/image" Target="../media/image27.png"/><Relationship Id="rId10" Type="http://schemas.openxmlformats.org/officeDocument/2006/relationships/image" Target="../media/image23.png"/><Relationship Id="rId19" Type="http://schemas.openxmlformats.org/officeDocument/2006/relationships/image" Target="../media/image30.png"/><Relationship Id="rId4" Type="http://schemas.openxmlformats.org/officeDocument/2006/relationships/image" Target="../media/image16.png"/><Relationship Id="rId9" Type="http://schemas.openxmlformats.org/officeDocument/2006/relationships/image" Target="../media/image22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s.google.com/maps/documentation" TargetMode="External"/><Relationship Id="rId3" Type="http://schemas.openxmlformats.org/officeDocument/2006/relationships/hyperlink" Target="https://ndma.gov.in/" TargetMode="External"/><Relationship Id="rId7" Type="http://schemas.openxmlformats.org/officeDocument/2006/relationships/hyperlink" Target="https://www.who.int/emergenci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drr.org/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nidm.gov.in/" TargetMode="External"/><Relationship Id="rId10" Type="http://schemas.openxmlformats.org/officeDocument/2006/relationships/hyperlink" Target="https://www.openstreetmap.org/" TargetMode="External"/><Relationship Id="rId4" Type="http://schemas.openxmlformats.org/officeDocument/2006/relationships/hyperlink" Target="https://mausam.imd.gov.in/" TargetMode="External"/><Relationship Id="rId9" Type="http://schemas.openxmlformats.org/officeDocument/2006/relationships/hyperlink" Target="https://firebase.google.com/docs/cloud-messag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210473" y="1738033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715428"/>
            <a:ext cx="8534400" cy="1923774"/>
          </a:xfrm>
          <a:ln>
            <a:noFill/>
          </a:ln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SAFEROUTETECH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06466" y="-191653"/>
            <a:ext cx="9700628" cy="1122868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1" y="1147002"/>
            <a:ext cx="7780421" cy="5794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/>
              <a:t>25008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/>
              <a:t>Disaster Preparedness and Response Education System for Schools and Colleges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Disaster Management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 </a:t>
            </a:r>
            <a:r>
              <a:rPr lang="en-IN" sz="2400" b="1" dirty="0" err="1"/>
              <a:t>SafeRouteTech</a:t>
            </a:r>
            <a:endParaRPr lang="en-IN" sz="2400" b="1" dirty="0"/>
          </a:p>
          <a:p>
            <a:pPr algn="just">
              <a:lnSpc>
                <a:spcPct val="200000"/>
              </a:lnSpc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69150" y="-128236"/>
            <a:ext cx="4498863" cy="80733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SafeRouteTech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41515" y="805023"/>
            <a:ext cx="6917012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Centralized Alert System: </a:t>
            </a:r>
            <a:r>
              <a:rPr lang="en-IN" sz="2000" dirty="0"/>
              <a:t>The system continuously monitors </a:t>
            </a:r>
            <a:r>
              <a:rPr lang="en-IN" sz="2000" b="1" dirty="0"/>
              <a:t>official disaster alerts </a:t>
            </a:r>
            <a:r>
              <a:rPr lang="en-IN" sz="2000" dirty="0"/>
              <a:t>(earthquake, flood, cyclone, fire). When a disaster is detected, </a:t>
            </a:r>
            <a:r>
              <a:rPr lang="en-IN" sz="2000" b="1" dirty="0"/>
              <a:t>instant notifications</a:t>
            </a:r>
            <a:r>
              <a:rPr lang="en-IN" sz="2000" dirty="0"/>
              <a:t> are sent to: School and college principals, Teachers and staff.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Real-Time Notification: </a:t>
            </a:r>
            <a:r>
              <a:rPr lang="en-IN" sz="2000" dirty="0"/>
              <a:t>Notifications are delivered through: </a:t>
            </a:r>
            <a:r>
              <a:rPr lang="en-IN" sz="2000" b="1" dirty="0"/>
              <a:t>Mobile app</a:t>
            </a:r>
            <a:r>
              <a:rPr lang="en-IN" sz="2000" dirty="0"/>
              <a:t>, </a:t>
            </a:r>
            <a:r>
              <a:rPr lang="en-IN" sz="2000" b="1" dirty="0"/>
              <a:t>SMS </a:t>
            </a:r>
            <a:r>
              <a:rPr lang="en-IN" sz="2000" dirty="0"/>
              <a:t>, </a:t>
            </a:r>
            <a:r>
              <a:rPr lang="en-IN" sz="2000" b="1" dirty="0"/>
              <a:t>Web dashboard.</a:t>
            </a:r>
          </a:p>
          <a:p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Evacuation Map: </a:t>
            </a:r>
            <a:r>
              <a:rPr lang="en-IN" sz="2000" dirty="0"/>
              <a:t>Directions are provided using </a:t>
            </a:r>
            <a:r>
              <a:rPr lang="en-IN" sz="2000" b="1" dirty="0"/>
              <a:t>GPS and maps</a:t>
            </a:r>
            <a:r>
              <a:rPr lang="en-IN" sz="2000" dirty="0"/>
              <a:t>, making evacuation faster and safer.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Training Module: </a:t>
            </a:r>
            <a:r>
              <a:rPr lang="en-IN" sz="2000" dirty="0"/>
              <a:t>The system includes </a:t>
            </a:r>
            <a:r>
              <a:rPr lang="en-IN" sz="2000" b="1" dirty="0"/>
              <a:t>pre-disaster education content </a:t>
            </a:r>
            <a:r>
              <a:rPr lang="en-IN" sz="2000" dirty="0"/>
              <a:t>are Disaster safety guidelines, Do’s and Don’ts and Mock drill instructions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Scalable &amp; Low-Cost Solution: </a:t>
            </a:r>
            <a:r>
              <a:rPr lang="en-IN" dirty="0"/>
              <a:t>Can be deployed in Schools, Colleges and Universities. Designed to work even in </a:t>
            </a:r>
            <a:r>
              <a:rPr lang="en-IN" b="1" dirty="0"/>
              <a:t>low-resource environments</a:t>
            </a:r>
            <a:r>
              <a:rPr lang="en-IN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2269150" cy="71386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SafeRouteTech</a:t>
            </a:r>
            <a:endParaRPr lang="en-IN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0F5155-C032-D00F-AD07-8E1B24CCF529}"/>
              </a:ext>
            </a:extLst>
          </p:cNvPr>
          <p:cNvGrpSpPr/>
          <p:nvPr/>
        </p:nvGrpSpPr>
        <p:grpSpPr>
          <a:xfrm>
            <a:off x="6831380" y="61692"/>
            <a:ext cx="1251857" cy="1079807"/>
            <a:chOff x="1616991" y="232775"/>
            <a:chExt cx="7459578" cy="597833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C205B39-AD9D-26C9-4037-805AB7C61B37}"/>
                </a:ext>
              </a:extLst>
            </p:cNvPr>
            <p:cNvGrpSpPr/>
            <p:nvPr/>
          </p:nvGrpSpPr>
          <p:grpSpPr>
            <a:xfrm>
              <a:off x="1616991" y="232775"/>
              <a:ext cx="7459578" cy="5978337"/>
              <a:chOff x="3460130" y="1295482"/>
              <a:chExt cx="7067979" cy="557342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FC52D7B4-D03B-F2E2-6B67-7DF8061D6A2C}"/>
                  </a:ext>
                </a:extLst>
              </p:cNvPr>
              <p:cNvSpPr/>
              <p:nvPr/>
            </p:nvSpPr>
            <p:spPr>
              <a:xfrm>
                <a:off x="3460130" y="2454442"/>
                <a:ext cx="7067979" cy="4414460"/>
              </a:xfrm>
              <a:prstGeom prst="roundRect">
                <a:avLst>
                  <a:gd name="adj" fmla="val 13835"/>
                </a:avLst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6FC0B02-34A2-6A5C-E73C-D8726F27D952}"/>
                  </a:ext>
                </a:extLst>
              </p:cNvPr>
              <p:cNvSpPr/>
              <p:nvPr/>
            </p:nvSpPr>
            <p:spPr>
              <a:xfrm>
                <a:off x="5878778" y="1295482"/>
                <a:ext cx="2642527" cy="2317920"/>
              </a:xfrm>
              <a:prstGeom prst="ellipse">
                <a:avLst/>
              </a:prstGeom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A2A6D9-0ADA-8565-E8ED-F39686150B53}"/>
                </a:ext>
              </a:extLst>
            </p:cNvPr>
            <p:cNvSpPr/>
            <p:nvPr/>
          </p:nvSpPr>
          <p:spPr>
            <a:xfrm>
              <a:off x="1994581" y="2605294"/>
              <a:ext cx="2107221" cy="2454002"/>
            </a:xfrm>
            <a:prstGeom prst="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D2C2FE-6F8D-F4D3-BE82-DE654DE60CC2}"/>
                </a:ext>
              </a:extLst>
            </p:cNvPr>
            <p:cNvSpPr/>
            <p:nvPr/>
          </p:nvSpPr>
          <p:spPr>
            <a:xfrm>
              <a:off x="4293170" y="2605294"/>
              <a:ext cx="2107221" cy="2454002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A9BD129-491F-B4E9-9FDA-92E3FEE8CF14}"/>
                </a:ext>
              </a:extLst>
            </p:cNvPr>
            <p:cNvSpPr/>
            <p:nvPr/>
          </p:nvSpPr>
          <p:spPr>
            <a:xfrm>
              <a:off x="6591758" y="2589859"/>
              <a:ext cx="2107221" cy="2454002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57F1F5F-7687-AFA8-DA38-143A73B8F58C}"/>
                </a:ext>
              </a:extLst>
            </p:cNvPr>
            <p:cNvSpPr/>
            <p:nvPr/>
          </p:nvSpPr>
          <p:spPr>
            <a:xfrm>
              <a:off x="3164318" y="5237274"/>
              <a:ext cx="4437076" cy="755905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700" dirty="0">
                  <a:solidFill>
                    <a:schemeClr val="tx1"/>
                  </a:solidFill>
                </a:rPr>
                <a:t>Client system</a:t>
              </a: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A8786E7D-F6E4-B5F0-634B-352950F68663}"/>
              </a:ext>
            </a:extLst>
          </p:cNvPr>
          <p:cNvSpPr/>
          <p:nvPr/>
        </p:nvSpPr>
        <p:spPr>
          <a:xfrm>
            <a:off x="8257539" y="1446981"/>
            <a:ext cx="1122946" cy="860918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78308B-A70E-C048-037A-1970BFA5F37E}"/>
              </a:ext>
            </a:extLst>
          </p:cNvPr>
          <p:cNvSpPr/>
          <p:nvPr/>
        </p:nvSpPr>
        <p:spPr>
          <a:xfrm>
            <a:off x="7153617" y="2619511"/>
            <a:ext cx="1621801" cy="42384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A190AB0-6500-B635-DB57-ADB31958A1F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rot="10800000" flipV="1">
            <a:off x="7964519" y="1877439"/>
            <a:ext cx="293021" cy="74207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B590A1A-5AF2-18E9-5377-22C59317A19D}"/>
              </a:ext>
            </a:extLst>
          </p:cNvPr>
          <p:cNvCxnSpPr>
            <a:cxnSpLocks/>
            <a:stCxn id="18" idx="0"/>
            <a:endCxn id="3" idx="3"/>
          </p:cNvCxnSpPr>
          <p:nvPr/>
        </p:nvCxnSpPr>
        <p:spPr>
          <a:xfrm rot="16200000" flipV="1">
            <a:off x="8084568" y="712536"/>
            <a:ext cx="733115" cy="735775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288C597-A1B8-9739-5538-6723BDDA8A09}"/>
              </a:ext>
            </a:extLst>
          </p:cNvPr>
          <p:cNvSpPr/>
          <p:nvPr/>
        </p:nvSpPr>
        <p:spPr>
          <a:xfrm>
            <a:off x="10507763" y="1357855"/>
            <a:ext cx="717587" cy="999676"/>
          </a:xfrm>
          <a:prstGeom prst="ellipse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E5F930-FF93-CFDF-9DDB-6A38DB8731D3}"/>
              </a:ext>
            </a:extLst>
          </p:cNvPr>
          <p:cNvCxnSpPr>
            <a:cxnSpLocks/>
            <a:stCxn id="31" idx="2"/>
            <a:endCxn id="18" idx="6"/>
          </p:cNvCxnSpPr>
          <p:nvPr/>
        </p:nvCxnSpPr>
        <p:spPr>
          <a:xfrm flipH="1">
            <a:off x="9380485" y="1857693"/>
            <a:ext cx="1127278" cy="197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F0AD943B-141C-3CB9-B3FB-1D285B75D862}"/>
              </a:ext>
            </a:extLst>
          </p:cNvPr>
          <p:cNvSpPr/>
          <p:nvPr/>
        </p:nvSpPr>
        <p:spPr>
          <a:xfrm>
            <a:off x="10945926" y="2658875"/>
            <a:ext cx="1246074" cy="1577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5459A21-026D-1720-2BE6-2BA7BA352CA1}"/>
              </a:ext>
            </a:extLst>
          </p:cNvPr>
          <p:cNvCxnSpPr>
            <a:cxnSpLocks/>
            <a:stCxn id="31" idx="6"/>
            <a:endCxn id="44" idx="0"/>
          </p:cNvCxnSpPr>
          <p:nvPr/>
        </p:nvCxnSpPr>
        <p:spPr>
          <a:xfrm>
            <a:off x="11225350" y="1857693"/>
            <a:ext cx="343613" cy="801182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735EF81-9721-D2DF-860B-DAD1C40EA427}"/>
              </a:ext>
            </a:extLst>
          </p:cNvPr>
          <p:cNvSpPr/>
          <p:nvPr/>
        </p:nvSpPr>
        <p:spPr>
          <a:xfrm>
            <a:off x="11193488" y="77814"/>
            <a:ext cx="834859" cy="978697"/>
          </a:xfrm>
          <a:prstGeom prst="ellipse">
            <a:avLst/>
          </a:prstGeom>
          <a:blipFill dpi="0"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6406D86-06AD-E03D-70C4-C0FF0C2B905B}"/>
              </a:ext>
            </a:extLst>
          </p:cNvPr>
          <p:cNvCxnSpPr>
            <a:cxnSpLocks/>
            <a:stCxn id="31" idx="0"/>
            <a:endCxn id="47" idx="2"/>
          </p:cNvCxnSpPr>
          <p:nvPr/>
        </p:nvCxnSpPr>
        <p:spPr>
          <a:xfrm rot="5400000" flipH="1" flipV="1">
            <a:off x="10634676" y="799044"/>
            <a:ext cx="790692" cy="326931"/>
          </a:xfrm>
          <a:prstGeom prst="bentConnector2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51D3590-697D-D0DC-90C8-9FBDDB6DB95F}"/>
              </a:ext>
            </a:extLst>
          </p:cNvPr>
          <p:cNvSpPr/>
          <p:nvPr/>
        </p:nvSpPr>
        <p:spPr>
          <a:xfrm>
            <a:off x="7511623" y="2616872"/>
            <a:ext cx="1251857" cy="3847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End Users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BBA19C4-899A-C9F3-FD5C-38BD5194E26A}"/>
              </a:ext>
            </a:extLst>
          </p:cNvPr>
          <p:cNvSpPr/>
          <p:nvPr/>
        </p:nvSpPr>
        <p:spPr>
          <a:xfrm>
            <a:off x="10983860" y="2746711"/>
            <a:ext cx="419256" cy="429545"/>
          </a:xfrm>
          <a:prstGeom prst="ellipse">
            <a:avLst/>
          </a:prstGeom>
          <a:blipFill dpi="0"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BFBD3D-724B-B06A-5827-D593F2BDDF54}"/>
              </a:ext>
            </a:extLst>
          </p:cNvPr>
          <p:cNvSpPr/>
          <p:nvPr/>
        </p:nvSpPr>
        <p:spPr>
          <a:xfrm>
            <a:off x="10983860" y="3772886"/>
            <a:ext cx="419256" cy="337764"/>
          </a:xfrm>
          <a:prstGeom prst="rect">
            <a:avLst/>
          </a:prstGeom>
          <a:blipFill dpi="0"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B5858B9-7535-EA4B-7404-4FD8077A6B42}"/>
              </a:ext>
            </a:extLst>
          </p:cNvPr>
          <p:cNvSpPr/>
          <p:nvPr/>
        </p:nvSpPr>
        <p:spPr>
          <a:xfrm>
            <a:off x="10983860" y="3205516"/>
            <a:ext cx="419256" cy="365126"/>
          </a:xfrm>
          <a:prstGeom prst="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2B2533D-E192-7431-7042-ED2301593CC6}"/>
              </a:ext>
            </a:extLst>
          </p:cNvPr>
          <p:cNvSpPr/>
          <p:nvPr/>
        </p:nvSpPr>
        <p:spPr>
          <a:xfrm>
            <a:off x="7204852" y="2648439"/>
            <a:ext cx="326303" cy="363632"/>
          </a:xfrm>
          <a:prstGeom prst="ellipse">
            <a:avLst/>
          </a:prstGeom>
          <a:blipFill dpi="0"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B2C7439-D6A7-7598-6863-2524E2DF3E42}"/>
              </a:ext>
            </a:extLst>
          </p:cNvPr>
          <p:cNvCxnSpPr>
            <a:cxnSpLocks/>
          </p:cNvCxnSpPr>
          <p:nvPr/>
        </p:nvCxnSpPr>
        <p:spPr>
          <a:xfrm>
            <a:off x="7153617" y="3042551"/>
            <a:ext cx="16218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3741163-5F05-5CEB-F11B-6E5A0E495924}"/>
              </a:ext>
            </a:extLst>
          </p:cNvPr>
          <p:cNvSpPr txBox="1"/>
          <p:nvPr/>
        </p:nvSpPr>
        <p:spPr>
          <a:xfrm>
            <a:off x="11498206" y="2830255"/>
            <a:ext cx="67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SMS</a:t>
            </a:r>
          </a:p>
        </p:txBody>
      </p:sp>
      <p:sp>
        <p:nvSpPr>
          <p:cNvPr id="15363" name="TextBox 15362">
            <a:extLst>
              <a:ext uri="{FF2B5EF4-FFF2-40B4-BE49-F238E27FC236}">
                <a16:creationId xmlns:a16="http://schemas.microsoft.com/office/drawing/2014/main" id="{97793752-FC2D-B91E-D702-DFB41A880667}"/>
              </a:ext>
            </a:extLst>
          </p:cNvPr>
          <p:cNvSpPr txBox="1"/>
          <p:nvPr/>
        </p:nvSpPr>
        <p:spPr>
          <a:xfrm>
            <a:off x="11379944" y="3205516"/>
            <a:ext cx="9339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Push Notification</a:t>
            </a:r>
          </a:p>
        </p:txBody>
      </p:sp>
      <p:sp>
        <p:nvSpPr>
          <p:cNvPr id="15364" name="TextBox 15363">
            <a:extLst>
              <a:ext uri="{FF2B5EF4-FFF2-40B4-BE49-F238E27FC236}">
                <a16:creationId xmlns:a16="http://schemas.microsoft.com/office/drawing/2014/main" id="{3AF4B640-6A3B-9AC3-D648-3E24B3152603}"/>
              </a:ext>
            </a:extLst>
          </p:cNvPr>
          <p:cNvSpPr txBox="1"/>
          <p:nvPr/>
        </p:nvSpPr>
        <p:spPr>
          <a:xfrm>
            <a:off x="11379944" y="3686396"/>
            <a:ext cx="8595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Google Maps API</a:t>
            </a:r>
          </a:p>
        </p:txBody>
      </p:sp>
      <p:sp>
        <p:nvSpPr>
          <p:cNvPr id="15366" name="Oval 15365">
            <a:extLst>
              <a:ext uri="{FF2B5EF4-FFF2-40B4-BE49-F238E27FC236}">
                <a16:creationId xmlns:a16="http://schemas.microsoft.com/office/drawing/2014/main" id="{0B5CE66C-8F70-E0CB-9AEC-2508E5E55506}"/>
              </a:ext>
            </a:extLst>
          </p:cNvPr>
          <p:cNvSpPr/>
          <p:nvPr/>
        </p:nvSpPr>
        <p:spPr>
          <a:xfrm>
            <a:off x="7241175" y="3217056"/>
            <a:ext cx="326303" cy="363632"/>
          </a:xfrm>
          <a:prstGeom prst="ellipse">
            <a:avLst/>
          </a:prstGeom>
          <a:blipFill dpi="0"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67" name="Oval 15366">
            <a:extLst>
              <a:ext uri="{FF2B5EF4-FFF2-40B4-BE49-F238E27FC236}">
                <a16:creationId xmlns:a16="http://schemas.microsoft.com/office/drawing/2014/main" id="{51A32529-E0E9-131A-2FAD-0B8DA6304790}"/>
              </a:ext>
            </a:extLst>
          </p:cNvPr>
          <p:cNvSpPr/>
          <p:nvPr/>
        </p:nvSpPr>
        <p:spPr>
          <a:xfrm>
            <a:off x="7226407" y="3842814"/>
            <a:ext cx="326303" cy="363632"/>
          </a:xfrm>
          <a:prstGeom prst="ellipse">
            <a:avLst/>
          </a:prstGeom>
          <a:blipFill dpi="0"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68" name="Oval 15367">
            <a:extLst>
              <a:ext uri="{FF2B5EF4-FFF2-40B4-BE49-F238E27FC236}">
                <a16:creationId xmlns:a16="http://schemas.microsoft.com/office/drawing/2014/main" id="{F98FEA28-39D2-2942-CE6B-094F8DF29F5E}"/>
              </a:ext>
            </a:extLst>
          </p:cNvPr>
          <p:cNvSpPr/>
          <p:nvPr/>
        </p:nvSpPr>
        <p:spPr>
          <a:xfrm>
            <a:off x="7226406" y="4372547"/>
            <a:ext cx="326303" cy="363632"/>
          </a:xfrm>
          <a:prstGeom prst="ellipse">
            <a:avLst/>
          </a:prstGeom>
          <a:blipFill dpi="0"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69" name="Oval 15368">
            <a:extLst>
              <a:ext uri="{FF2B5EF4-FFF2-40B4-BE49-F238E27FC236}">
                <a16:creationId xmlns:a16="http://schemas.microsoft.com/office/drawing/2014/main" id="{993C0011-24F0-57CB-708B-7B19FC7FCFD9}"/>
              </a:ext>
            </a:extLst>
          </p:cNvPr>
          <p:cNvSpPr/>
          <p:nvPr/>
        </p:nvSpPr>
        <p:spPr>
          <a:xfrm>
            <a:off x="7248309" y="5090120"/>
            <a:ext cx="326303" cy="363632"/>
          </a:xfrm>
          <a:prstGeom prst="ellipse">
            <a:avLst/>
          </a:prstGeom>
          <a:blipFill dpi="0"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70" name="Rectangle 15369">
            <a:extLst>
              <a:ext uri="{FF2B5EF4-FFF2-40B4-BE49-F238E27FC236}">
                <a16:creationId xmlns:a16="http://schemas.microsoft.com/office/drawing/2014/main" id="{AD3617EE-13E1-5690-8874-3DAA3249D9F2}"/>
              </a:ext>
            </a:extLst>
          </p:cNvPr>
          <p:cNvSpPr/>
          <p:nvPr/>
        </p:nvSpPr>
        <p:spPr>
          <a:xfrm>
            <a:off x="7693696" y="3174278"/>
            <a:ext cx="987366" cy="3427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Student </a:t>
            </a:r>
          </a:p>
        </p:txBody>
      </p:sp>
      <p:sp>
        <p:nvSpPr>
          <p:cNvPr id="15371" name="Rectangle 15370">
            <a:extLst>
              <a:ext uri="{FF2B5EF4-FFF2-40B4-BE49-F238E27FC236}">
                <a16:creationId xmlns:a16="http://schemas.microsoft.com/office/drawing/2014/main" id="{4E1DD757-EF72-85E7-B18F-B6D8434F1E0A}"/>
              </a:ext>
            </a:extLst>
          </p:cNvPr>
          <p:cNvSpPr/>
          <p:nvPr/>
        </p:nvSpPr>
        <p:spPr>
          <a:xfrm>
            <a:off x="7691488" y="3816976"/>
            <a:ext cx="987366" cy="3427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Teacher</a:t>
            </a:r>
          </a:p>
        </p:txBody>
      </p:sp>
      <p:sp>
        <p:nvSpPr>
          <p:cNvPr id="15372" name="Rectangle 15371">
            <a:extLst>
              <a:ext uri="{FF2B5EF4-FFF2-40B4-BE49-F238E27FC236}">
                <a16:creationId xmlns:a16="http://schemas.microsoft.com/office/drawing/2014/main" id="{66C70535-1230-2EE8-4B8A-DF8C53BE280C}"/>
              </a:ext>
            </a:extLst>
          </p:cNvPr>
          <p:cNvSpPr/>
          <p:nvPr/>
        </p:nvSpPr>
        <p:spPr>
          <a:xfrm>
            <a:off x="7689280" y="4396027"/>
            <a:ext cx="987366" cy="3427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Principal </a:t>
            </a:r>
          </a:p>
        </p:txBody>
      </p:sp>
      <p:sp>
        <p:nvSpPr>
          <p:cNvPr id="15373" name="Rectangle 15372">
            <a:extLst>
              <a:ext uri="{FF2B5EF4-FFF2-40B4-BE49-F238E27FC236}">
                <a16:creationId xmlns:a16="http://schemas.microsoft.com/office/drawing/2014/main" id="{4A2505D8-C706-8D90-40FD-260DE9E19151}"/>
              </a:ext>
            </a:extLst>
          </p:cNvPr>
          <p:cNvSpPr/>
          <p:nvPr/>
        </p:nvSpPr>
        <p:spPr>
          <a:xfrm>
            <a:off x="7703114" y="4975078"/>
            <a:ext cx="987366" cy="54484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Faculty staff</a:t>
            </a:r>
          </a:p>
        </p:txBody>
      </p:sp>
      <p:cxnSp>
        <p:nvCxnSpPr>
          <p:cNvPr id="15377" name="Straight Arrow Connector 15376">
            <a:extLst>
              <a:ext uri="{FF2B5EF4-FFF2-40B4-BE49-F238E27FC236}">
                <a16:creationId xmlns:a16="http://schemas.microsoft.com/office/drawing/2014/main" id="{C0249B62-261D-4270-56F8-979B1727D5FC}"/>
              </a:ext>
            </a:extLst>
          </p:cNvPr>
          <p:cNvCxnSpPr>
            <a:cxnSpLocks/>
            <a:stCxn id="15370" idx="2"/>
            <a:endCxn id="15371" idx="0"/>
          </p:cNvCxnSpPr>
          <p:nvPr/>
        </p:nvCxnSpPr>
        <p:spPr>
          <a:xfrm flipH="1">
            <a:off x="8185171" y="3517041"/>
            <a:ext cx="2208" cy="299935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80" name="Straight Arrow Connector 15379">
            <a:extLst>
              <a:ext uri="{FF2B5EF4-FFF2-40B4-BE49-F238E27FC236}">
                <a16:creationId xmlns:a16="http://schemas.microsoft.com/office/drawing/2014/main" id="{90AAF53D-7896-23BB-0360-0B2ECD4A65FD}"/>
              </a:ext>
            </a:extLst>
          </p:cNvPr>
          <p:cNvCxnSpPr>
            <a:stCxn id="15371" idx="2"/>
            <a:endCxn id="15372" idx="0"/>
          </p:cNvCxnSpPr>
          <p:nvPr/>
        </p:nvCxnSpPr>
        <p:spPr>
          <a:xfrm flipH="1">
            <a:off x="8182963" y="4159739"/>
            <a:ext cx="2208" cy="23628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82" name="Straight Arrow Connector 15381">
            <a:extLst>
              <a:ext uri="{FF2B5EF4-FFF2-40B4-BE49-F238E27FC236}">
                <a16:creationId xmlns:a16="http://schemas.microsoft.com/office/drawing/2014/main" id="{D0CE7C59-12D2-D9F7-DD37-1FB0C7ED0A1B}"/>
              </a:ext>
            </a:extLst>
          </p:cNvPr>
          <p:cNvCxnSpPr>
            <a:cxnSpLocks/>
            <a:stCxn id="15372" idx="2"/>
            <a:endCxn id="15373" idx="0"/>
          </p:cNvCxnSpPr>
          <p:nvPr/>
        </p:nvCxnSpPr>
        <p:spPr>
          <a:xfrm>
            <a:off x="8182963" y="4738790"/>
            <a:ext cx="13834" cy="236288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86" name="Straight Connector 15385">
            <a:extLst>
              <a:ext uri="{FF2B5EF4-FFF2-40B4-BE49-F238E27FC236}">
                <a16:creationId xmlns:a16="http://schemas.microsoft.com/office/drawing/2014/main" id="{17EEC2C6-416B-1C33-EDA1-141DC00B547A}"/>
              </a:ext>
            </a:extLst>
          </p:cNvPr>
          <p:cNvCxnSpPr>
            <a:cxnSpLocks/>
          </p:cNvCxnSpPr>
          <p:nvPr/>
        </p:nvCxnSpPr>
        <p:spPr>
          <a:xfrm>
            <a:off x="7153617" y="5518788"/>
            <a:ext cx="1621801" cy="240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90" name="Straight Connector 15389">
            <a:extLst>
              <a:ext uri="{FF2B5EF4-FFF2-40B4-BE49-F238E27FC236}">
                <a16:creationId xmlns:a16="http://schemas.microsoft.com/office/drawing/2014/main" id="{22C72F0A-361E-87AE-F74A-9FBB8123CE53}"/>
              </a:ext>
            </a:extLst>
          </p:cNvPr>
          <p:cNvCxnSpPr>
            <a:cxnSpLocks/>
          </p:cNvCxnSpPr>
          <p:nvPr/>
        </p:nvCxnSpPr>
        <p:spPr>
          <a:xfrm>
            <a:off x="7193723" y="5954195"/>
            <a:ext cx="16218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1" name="Rectangle 15390">
            <a:extLst>
              <a:ext uri="{FF2B5EF4-FFF2-40B4-BE49-F238E27FC236}">
                <a16:creationId xmlns:a16="http://schemas.microsoft.com/office/drawing/2014/main" id="{91146CEE-6524-8952-C3A7-DAB1E6146893}"/>
              </a:ext>
            </a:extLst>
          </p:cNvPr>
          <p:cNvSpPr/>
          <p:nvPr/>
        </p:nvSpPr>
        <p:spPr>
          <a:xfrm>
            <a:off x="7535687" y="5544559"/>
            <a:ext cx="1251857" cy="3847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Operators</a:t>
            </a:r>
          </a:p>
        </p:txBody>
      </p:sp>
      <p:sp>
        <p:nvSpPr>
          <p:cNvPr id="15392" name="Oval 15391">
            <a:extLst>
              <a:ext uri="{FF2B5EF4-FFF2-40B4-BE49-F238E27FC236}">
                <a16:creationId xmlns:a16="http://schemas.microsoft.com/office/drawing/2014/main" id="{4E478CE1-A0F6-30D6-339C-981907E5352E}"/>
              </a:ext>
            </a:extLst>
          </p:cNvPr>
          <p:cNvSpPr/>
          <p:nvPr/>
        </p:nvSpPr>
        <p:spPr>
          <a:xfrm>
            <a:off x="7212874" y="5560083"/>
            <a:ext cx="326303" cy="363632"/>
          </a:xfrm>
          <a:prstGeom prst="ellipse">
            <a:avLst/>
          </a:prstGeom>
          <a:blipFill dpi="0"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93" name="Oval 15392">
            <a:extLst>
              <a:ext uri="{FF2B5EF4-FFF2-40B4-BE49-F238E27FC236}">
                <a16:creationId xmlns:a16="http://schemas.microsoft.com/office/drawing/2014/main" id="{040A0915-1564-ABF3-6AD4-DAAE9284F0D2}"/>
              </a:ext>
            </a:extLst>
          </p:cNvPr>
          <p:cNvSpPr/>
          <p:nvPr/>
        </p:nvSpPr>
        <p:spPr>
          <a:xfrm>
            <a:off x="7204854" y="6001239"/>
            <a:ext cx="326303" cy="363632"/>
          </a:xfrm>
          <a:prstGeom prst="ellipse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94" name="Oval 15393">
            <a:extLst>
              <a:ext uri="{FF2B5EF4-FFF2-40B4-BE49-F238E27FC236}">
                <a16:creationId xmlns:a16="http://schemas.microsoft.com/office/drawing/2014/main" id="{8ED2BCCD-A298-AD41-2FCC-7AACD6CA3545}"/>
              </a:ext>
            </a:extLst>
          </p:cNvPr>
          <p:cNvSpPr/>
          <p:nvPr/>
        </p:nvSpPr>
        <p:spPr>
          <a:xfrm>
            <a:off x="7196834" y="6442395"/>
            <a:ext cx="326303" cy="363632"/>
          </a:xfrm>
          <a:prstGeom prst="ellipse">
            <a:avLst/>
          </a:prstGeom>
          <a:blipFill dpi="0"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95" name="Rectangle 15394">
            <a:extLst>
              <a:ext uri="{FF2B5EF4-FFF2-40B4-BE49-F238E27FC236}">
                <a16:creationId xmlns:a16="http://schemas.microsoft.com/office/drawing/2014/main" id="{F4BB72CF-ED05-D5D6-39FD-41267A8A6293}"/>
              </a:ext>
            </a:extLst>
          </p:cNvPr>
          <p:cNvSpPr/>
          <p:nvPr/>
        </p:nvSpPr>
        <p:spPr>
          <a:xfrm>
            <a:off x="7489701" y="5946146"/>
            <a:ext cx="1251857" cy="2887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NDMA</a:t>
            </a:r>
          </a:p>
        </p:txBody>
      </p:sp>
      <p:sp>
        <p:nvSpPr>
          <p:cNvPr id="15396" name="Rectangle 15395">
            <a:extLst>
              <a:ext uri="{FF2B5EF4-FFF2-40B4-BE49-F238E27FC236}">
                <a16:creationId xmlns:a16="http://schemas.microsoft.com/office/drawing/2014/main" id="{BDDA8319-4A5D-E49B-AEDD-79BF471F3BD3}"/>
              </a:ext>
            </a:extLst>
          </p:cNvPr>
          <p:cNvSpPr/>
          <p:nvPr/>
        </p:nvSpPr>
        <p:spPr>
          <a:xfrm>
            <a:off x="7413235" y="6463234"/>
            <a:ext cx="1392129" cy="3713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Authorized Emergency Control Centre</a:t>
            </a:r>
          </a:p>
        </p:txBody>
      </p:sp>
      <p:cxnSp>
        <p:nvCxnSpPr>
          <p:cNvPr id="15401" name="Straight Arrow Connector 15400">
            <a:extLst>
              <a:ext uri="{FF2B5EF4-FFF2-40B4-BE49-F238E27FC236}">
                <a16:creationId xmlns:a16="http://schemas.microsoft.com/office/drawing/2014/main" id="{5BD4142F-BE0D-37B8-B314-29B54459753B}"/>
              </a:ext>
            </a:extLst>
          </p:cNvPr>
          <p:cNvCxnSpPr>
            <a:cxnSpLocks/>
            <a:stCxn id="15395" idx="2"/>
            <a:endCxn id="15396" idx="0"/>
          </p:cNvCxnSpPr>
          <p:nvPr/>
        </p:nvCxnSpPr>
        <p:spPr>
          <a:xfrm flipH="1">
            <a:off x="8109300" y="6234856"/>
            <a:ext cx="6330" cy="22837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04" name="TextBox 15403">
            <a:extLst>
              <a:ext uri="{FF2B5EF4-FFF2-40B4-BE49-F238E27FC236}">
                <a16:creationId xmlns:a16="http://schemas.microsoft.com/office/drawing/2014/main" id="{01CFDAC8-D12C-482E-95A8-97DD575C7E32}"/>
              </a:ext>
            </a:extLst>
          </p:cNvPr>
          <p:cNvSpPr txBox="1"/>
          <p:nvPr/>
        </p:nvSpPr>
        <p:spPr>
          <a:xfrm>
            <a:off x="8134275" y="275431"/>
            <a:ext cx="1208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Client </a:t>
            </a:r>
            <a:r>
              <a:rPr lang="en-IN" sz="1200" dirty="0" err="1"/>
              <a:t>Req</a:t>
            </a:r>
            <a:r>
              <a:rPr lang="en-IN" sz="1200" dirty="0"/>
              <a:t>/Res</a:t>
            </a:r>
          </a:p>
        </p:txBody>
      </p:sp>
      <p:sp>
        <p:nvSpPr>
          <p:cNvPr id="15405" name="TextBox 15404">
            <a:extLst>
              <a:ext uri="{FF2B5EF4-FFF2-40B4-BE49-F238E27FC236}">
                <a16:creationId xmlns:a16="http://schemas.microsoft.com/office/drawing/2014/main" id="{11416BA0-0EC2-33B2-C524-BE4CFF604CC9}"/>
              </a:ext>
            </a:extLst>
          </p:cNvPr>
          <p:cNvSpPr txBox="1"/>
          <p:nvPr/>
        </p:nvSpPr>
        <p:spPr>
          <a:xfrm>
            <a:off x="9339995" y="1538558"/>
            <a:ext cx="1208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Server </a:t>
            </a:r>
            <a:r>
              <a:rPr lang="en-IN" sz="1200" dirty="0" err="1"/>
              <a:t>Req</a:t>
            </a:r>
            <a:r>
              <a:rPr lang="en-IN" sz="1200" dirty="0"/>
              <a:t>/Res</a:t>
            </a:r>
          </a:p>
        </p:txBody>
      </p:sp>
      <p:sp>
        <p:nvSpPr>
          <p:cNvPr id="15411" name="TextBox 15410">
            <a:extLst>
              <a:ext uri="{FF2B5EF4-FFF2-40B4-BE49-F238E27FC236}">
                <a16:creationId xmlns:a16="http://schemas.microsoft.com/office/drawing/2014/main" id="{4C72BE0C-15FA-B253-7CCE-AE741B9C7204}"/>
              </a:ext>
            </a:extLst>
          </p:cNvPr>
          <p:cNvSpPr txBox="1"/>
          <p:nvPr/>
        </p:nvSpPr>
        <p:spPr>
          <a:xfrm>
            <a:off x="9903633" y="275431"/>
            <a:ext cx="1208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Data Retrieval</a:t>
            </a:r>
          </a:p>
        </p:txBody>
      </p:sp>
      <p:sp>
        <p:nvSpPr>
          <p:cNvPr id="15413" name="TextBox 15412">
            <a:extLst>
              <a:ext uri="{FF2B5EF4-FFF2-40B4-BE49-F238E27FC236}">
                <a16:creationId xmlns:a16="http://schemas.microsoft.com/office/drawing/2014/main" id="{576E7687-5197-720A-BCD9-1319BA527FF1}"/>
              </a:ext>
            </a:extLst>
          </p:cNvPr>
          <p:cNvSpPr txBox="1"/>
          <p:nvPr/>
        </p:nvSpPr>
        <p:spPr>
          <a:xfrm>
            <a:off x="7309796" y="1478225"/>
            <a:ext cx="1208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Authentication</a:t>
            </a:r>
          </a:p>
        </p:txBody>
      </p:sp>
      <p:sp>
        <p:nvSpPr>
          <p:cNvPr id="15414" name="TextBox 15413">
            <a:extLst>
              <a:ext uri="{FF2B5EF4-FFF2-40B4-BE49-F238E27FC236}">
                <a16:creationId xmlns:a16="http://schemas.microsoft.com/office/drawing/2014/main" id="{4043DC4B-5E2F-AD5F-37C4-4E847785605C}"/>
              </a:ext>
            </a:extLst>
          </p:cNvPr>
          <p:cNvSpPr txBox="1"/>
          <p:nvPr/>
        </p:nvSpPr>
        <p:spPr>
          <a:xfrm>
            <a:off x="11348396" y="1615385"/>
            <a:ext cx="12082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Services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38677" y="-179183"/>
            <a:ext cx="7086600" cy="106105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526" y="664105"/>
            <a:ext cx="6140449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Technology Stack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Frontend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HTML5, CSS3, JavaScript, React.js, Android.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Backend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Python (Django / Flask), REST APIs, Node.js, MySQL, MongoDB, FCM(Firebase Cloud Messaging), Twilio SMS API, Email SMTP Service.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API Services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Google Maps API, OpenStreetMap, GPS Services.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Authentication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 JWT(JSON Web Token), RBAC, HTTPS/SSL.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Cloud and Deployment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:: AWS/ Google Cloud Platform(GCP), Firebase Hosting, Docker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rial" pitchFamily="34" charset="0"/>
                <a:cs typeface="Arial" pitchFamily="34" charset="0"/>
              </a:rPr>
              <a:t>Add Ons</a:t>
            </a:r>
            <a:r>
              <a:rPr lang="en-US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Prometheus, Grafana, Logstash.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5CE0663-4FD3-FD87-EACD-2E34CC9F533B}"/>
              </a:ext>
            </a:extLst>
          </p:cNvPr>
          <p:cNvGrpSpPr/>
          <p:nvPr/>
        </p:nvGrpSpPr>
        <p:grpSpPr>
          <a:xfrm>
            <a:off x="6551943" y="6063615"/>
            <a:ext cx="1436418" cy="777172"/>
            <a:chOff x="6311918" y="1179965"/>
            <a:chExt cx="4851363" cy="2427252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28C89CB-C611-7F23-A1B9-71489DA80F8C}"/>
                </a:ext>
              </a:extLst>
            </p:cNvPr>
            <p:cNvSpPr/>
            <p:nvPr/>
          </p:nvSpPr>
          <p:spPr>
            <a:xfrm>
              <a:off x="6311918" y="1179965"/>
              <a:ext cx="4851363" cy="2427252"/>
            </a:xfrm>
            <a:prstGeom prst="roundRect">
              <a:avLst/>
            </a:prstGeom>
            <a:noFill/>
            <a:ln>
              <a:solidFill>
                <a:srgbClr val="01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IN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A119BD6-6412-46BF-0298-FC913BBACDB0}"/>
                </a:ext>
              </a:extLst>
            </p:cNvPr>
            <p:cNvSpPr/>
            <p:nvPr/>
          </p:nvSpPr>
          <p:spPr>
            <a:xfrm>
              <a:off x="6462699" y="1499710"/>
              <a:ext cx="1644964" cy="1804964"/>
            </a:xfrm>
            <a:prstGeom prst="ellipse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11A2E48-B277-CEE1-C7FA-CB49959DC48F}"/>
                </a:ext>
              </a:extLst>
            </p:cNvPr>
            <p:cNvSpPr txBox="1"/>
            <p:nvPr/>
          </p:nvSpPr>
          <p:spPr>
            <a:xfrm>
              <a:off x="8158648" y="1749543"/>
              <a:ext cx="3004633" cy="1441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b="1" dirty="0"/>
                <a:t>Principal / Admin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60D9284-106C-5286-9E65-D26B3ED7D7B4}"/>
              </a:ext>
            </a:extLst>
          </p:cNvPr>
          <p:cNvGrpSpPr/>
          <p:nvPr/>
        </p:nvGrpSpPr>
        <p:grpSpPr>
          <a:xfrm>
            <a:off x="8190388" y="5997449"/>
            <a:ext cx="1475863" cy="777172"/>
            <a:chOff x="6311918" y="1179965"/>
            <a:chExt cx="4984584" cy="242725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DA6A00CE-61DC-A704-F67E-40D411A3AB68}"/>
                </a:ext>
              </a:extLst>
            </p:cNvPr>
            <p:cNvSpPr/>
            <p:nvPr/>
          </p:nvSpPr>
          <p:spPr>
            <a:xfrm>
              <a:off x="6311918" y="1179965"/>
              <a:ext cx="4851363" cy="2427252"/>
            </a:xfrm>
            <a:prstGeom prst="roundRect">
              <a:avLst/>
            </a:prstGeom>
            <a:noFill/>
            <a:ln>
              <a:solidFill>
                <a:srgbClr val="01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IN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D7BEB7F-03BC-900D-A74C-77519A82F3A1}"/>
                </a:ext>
              </a:extLst>
            </p:cNvPr>
            <p:cNvSpPr/>
            <p:nvPr/>
          </p:nvSpPr>
          <p:spPr>
            <a:xfrm>
              <a:off x="6513684" y="1499710"/>
              <a:ext cx="1644967" cy="1804964"/>
            </a:xfrm>
            <a:prstGeom prst="ellipse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8F814BD-3831-9873-5CDD-F941FEB56DBC}"/>
                </a:ext>
              </a:extLst>
            </p:cNvPr>
            <p:cNvSpPr txBox="1"/>
            <p:nvPr/>
          </p:nvSpPr>
          <p:spPr>
            <a:xfrm>
              <a:off x="7169991" y="1793396"/>
              <a:ext cx="4126511" cy="1634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400" b="1" dirty="0"/>
                <a:t>Teachers &amp; Staff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B9C3148-2031-0736-FD70-D0A4A276A950}"/>
              </a:ext>
            </a:extLst>
          </p:cNvPr>
          <p:cNvGrpSpPr/>
          <p:nvPr/>
        </p:nvGrpSpPr>
        <p:grpSpPr>
          <a:xfrm>
            <a:off x="9855850" y="6006307"/>
            <a:ext cx="1727808" cy="777172"/>
            <a:chOff x="5416329" y="1179965"/>
            <a:chExt cx="5835504" cy="2427252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F58F1A93-DE1F-D395-9943-5E0825AEF0E6}"/>
                </a:ext>
              </a:extLst>
            </p:cNvPr>
            <p:cNvSpPr/>
            <p:nvPr/>
          </p:nvSpPr>
          <p:spPr>
            <a:xfrm>
              <a:off x="5416329" y="1179965"/>
              <a:ext cx="5746952" cy="2427252"/>
            </a:xfrm>
            <a:prstGeom prst="roundRect">
              <a:avLst/>
            </a:prstGeom>
            <a:noFill/>
            <a:ln>
              <a:solidFill>
                <a:srgbClr val="01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IN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D3AA734-EB86-730D-EFE6-DD9CB1073C60}"/>
                </a:ext>
              </a:extLst>
            </p:cNvPr>
            <p:cNvSpPr/>
            <p:nvPr/>
          </p:nvSpPr>
          <p:spPr>
            <a:xfrm>
              <a:off x="5705654" y="1451545"/>
              <a:ext cx="1644968" cy="1804964"/>
            </a:xfrm>
            <a:prstGeom prst="ellipse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1D8BA1B-E73B-DB42-D3AC-97F59C11B532}"/>
                </a:ext>
              </a:extLst>
            </p:cNvPr>
            <p:cNvSpPr txBox="1"/>
            <p:nvPr/>
          </p:nvSpPr>
          <p:spPr>
            <a:xfrm>
              <a:off x="7125322" y="1551262"/>
              <a:ext cx="4126511" cy="1634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400" dirty="0"/>
                <a:t>Students / parent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5709DB-0464-7C56-F6BA-1D41E665B85E}"/>
              </a:ext>
            </a:extLst>
          </p:cNvPr>
          <p:cNvGrpSpPr/>
          <p:nvPr/>
        </p:nvGrpSpPr>
        <p:grpSpPr>
          <a:xfrm>
            <a:off x="6714326" y="991326"/>
            <a:ext cx="1436418" cy="777172"/>
            <a:chOff x="6353892" y="1037523"/>
            <a:chExt cx="4851363" cy="2427252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CC38A69-A318-C040-DD60-3EC577DF401E}"/>
                </a:ext>
              </a:extLst>
            </p:cNvPr>
            <p:cNvSpPr/>
            <p:nvPr/>
          </p:nvSpPr>
          <p:spPr>
            <a:xfrm>
              <a:off x="6353892" y="1037523"/>
              <a:ext cx="4851363" cy="2427252"/>
            </a:xfrm>
            <a:prstGeom prst="roundRect">
              <a:avLst/>
            </a:prstGeom>
            <a:noFill/>
            <a:ln>
              <a:solidFill>
                <a:srgbClr val="01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IN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9E27F44-5018-C066-8C52-539E5DA8FD73}"/>
                </a:ext>
              </a:extLst>
            </p:cNvPr>
            <p:cNvSpPr/>
            <p:nvPr/>
          </p:nvSpPr>
          <p:spPr>
            <a:xfrm>
              <a:off x="6464931" y="1446663"/>
              <a:ext cx="1644968" cy="1804964"/>
            </a:xfrm>
            <a:prstGeom prst="ellipse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D23EE96-8263-3F5B-49E5-54F7DC0B84E1}"/>
                </a:ext>
              </a:extLst>
            </p:cNvPr>
            <p:cNvSpPr txBox="1"/>
            <p:nvPr/>
          </p:nvSpPr>
          <p:spPr>
            <a:xfrm>
              <a:off x="8109899" y="1179965"/>
              <a:ext cx="3053382" cy="20186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IN" sz="1200" b="1" dirty="0"/>
            </a:p>
            <a:p>
              <a:pPr algn="r"/>
              <a:r>
                <a:rPr lang="en-IN" sz="1200" b="1" dirty="0"/>
                <a:t>IMD(weather Alerts)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9D69E7-3BD2-CECA-EE12-FED0516F0F0D}"/>
              </a:ext>
            </a:extLst>
          </p:cNvPr>
          <p:cNvGrpSpPr/>
          <p:nvPr/>
        </p:nvGrpSpPr>
        <p:grpSpPr>
          <a:xfrm>
            <a:off x="8449415" y="906093"/>
            <a:ext cx="1475862" cy="777172"/>
            <a:chOff x="6311918" y="1179965"/>
            <a:chExt cx="4984580" cy="2427252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68E1C7C-CB83-0CE0-C265-3FDBB9011FE8}"/>
                </a:ext>
              </a:extLst>
            </p:cNvPr>
            <p:cNvSpPr/>
            <p:nvPr/>
          </p:nvSpPr>
          <p:spPr>
            <a:xfrm>
              <a:off x="6311918" y="1179965"/>
              <a:ext cx="4851363" cy="2427252"/>
            </a:xfrm>
            <a:prstGeom prst="roundRect">
              <a:avLst/>
            </a:prstGeom>
            <a:noFill/>
            <a:ln>
              <a:solidFill>
                <a:srgbClr val="01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IN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A25F6D3-3935-D8A3-F66D-15531529DEDB}"/>
                </a:ext>
              </a:extLst>
            </p:cNvPr>
            <p:cNvSpPr/>
            <p:nvPr/>
          </p:nvSpPr>
          <p:spPr>
            <a:xfrm>
              <a:off x="6515143" y="1460992"/>
              <a:ext cx="1644967" cy="1804964"/>
            </a:xfrm>
            <a:prstGeom prst="ellipse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DC31313-C34D-A4A5-72DF-766640E2D0C4}"/>
                </a:ext>
              </a:extLst>
            </p:cNvPr>
            <p:cNvSpPr txBox="1"/>
            <p:nvPr/>
          </p:nvSpPr>
          <p:spPr>
            <a:xfrm>
              <a:off x="7890087" y="1793396"/>
              <a:ext cx="3406411" cy="1249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2000" dirty="0">
                  <a:ln>
                    <a:solidFill>
                      <a:sysClr val="windowText" lastClr="000000"/>
                    </a:solidFill>
                  </a:ln>
                </a:rPr>
                <a:t>NDMA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047682-4287-FFE5-1592-DD6C9EA37956}"/>
              </a:ext>
            </a:extLst>
          </p:cNvPr>
          <p:cNvGrpSpPr/>
          <p:nvPr/>
        </p:nvGrpSpPr>
        <p:grpSpPr>
          <a:xfrm>
            <a:off x="10069210" y="1038067"/>
            <a:ext cx="1727808" cy="777172"/>
            <a:chOff x="5416329" y="1179965"/>
            <a:chExt cx="5835504" cy="2427252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D0473764-555D-16AA-65D4-6F4D2C27B20D}"/>
                </a:ext>
              </a:extLst>
            </p:cNvPr>
            <p:cNvSpPr/>
            <p:nvPr/>
          </p:nvSpPr>
          <p:spPr>
            <a:xfrm>
              <a:off x="5416329" y="1179965"/>
              <a:ext cx="5746952" cy="2427252"/>
            </a:xfrm>
            <a:prstGeom prst="roundRect">
              <a:avLst/>
            </a:prstGeom>
            <a:noFill/>
            <a:ln>
              <a:solidFill>
                <a:srgbClr val="01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IN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F075CA6-6F82-D5B4-0879-8A2465FBA42E}"/>
                </a:ext>
              </a:extLst>
            </p:cNvPr>
            <p:cNvSpPr/>
            <p:nvPr/>
          </p:nvSpPr>
          <p:spPr>
            <a:xfrm>
              <a:off x="5582234" y="1261827"/>
              <a:ext cx="1644968" cy="1804964"/>
            </a:xfrm>
            <a:prstGeom prst="ellipse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09F2DAB-F836-1E35-CB3C-603FFECA2518}"/>
                </a:ext>
              </a:extLst>
            </p:cNvPr>
            <p:cNvSpPr txBox="1"/>
            <p:nvPr/>
          </p:nvSpPr>
          <p:spPr>
            <a:xfrm>
              <a:off x="7125322" y="1551262"/>
              <a:ext cx="4126511" cy="1634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400" dirty="0"/>
                <a:t>Local Disaster Control Room</a:t>
              </a:r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9E614D60-5FF6-01FF-2AA5-BA62D6E73FCD}"/>
              </a:ext>
            </a:extLst>
          </p:cNvPr>
          <p:cNvSpPr/>
          <p:nvPr/>
        </p:nvSpPr>
        <p:spPr>
          <a:xfrm>
            <a:off x="8292660" y="2530554"/>
            <a:ext cx="1812259" cy="537717"/>
          </a:xfrm>
          <a:prstGeom prst="rect">
            <a:avLst/>
          </a:prstGeom>
          <a:noFill/>
          <a:ln>
            <a:solidFill>
              <a:srgbClr val="0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Backend Server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62306A5-1BAE-D655-297D-B03AE926DC90}"/>
              </a:ext>
            </a:extLst>
          </p:cNvPr>
          <p:cNvSpPr/>
          <p:nvPr/>
        </p:nvSpPr>
        <p:spPr>
          <a:xfrm>
            <a:off x="8054990" y="4986702"/>
            <a:ext cx="2296086" cy="537717"/>
          </a:xfrm>
          <a:prstGeom prst="rect">
            <a:avLst/>
          </a:prstGeom>
          <a:noFill/>
          <a:ln>
            <a:solidFill>
              <a:srgbClr val="0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Fronted Web / Mobile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206C0EB4-8C81-5529-F7BF-D9EA2936956D}"/>
              </a:ext>
            </a:extLst>
          </p:cNvPr>
          <p:cNvCxnSpPr>
            <a:stCxn id="3" idx="2"/>
            <a:endCxn id="47" idx="0"/>
          </p:cNvCxnSpPr>
          <p:nvPr/>
        </p:nvCxnSpPr>
        <p:spPr>
          <a:xfrm rot="16200000" flipH="1">
            <a:off x="7934634" y="1266398"/>
            <a:ext cx="762056" cy="176625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B7F26A9-31EA-13F5-8E89-EBA04C3B7BAF}"/>
              </a:ext>
            </a:extLst>
          </p:cNvPr>
          <p:cNvCxnSpPr>
            <a:cxnSpLocks/>
            <a:stCxn id="14" idx="2"/>
            <a:endCxn id="47" idx="0"/>
          </p:cNvCxnSpPr>
          <p:nvPr/>
        </p:nvCxnSpPr>
        <p:spPr>
          <a:xfrm rot="16200000" flipH="1">
            <a:off x="8759563" y="2091326"/>
            <a:ext cx="847289" cy="31166"/>
          </a:xfrm>
          <a:prstGeom prst="bentConnector3">
            <a:avLst>
              <a:gd name="adj1" fmla="val 50000"/>
            </a:avLst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4E4AA38-B1E5-FBA4-7EBB-3E1415CDEC41}"/>
              </a:ext>
            </a:extLst>
          </p:cNvPr>
          <p:cNvCxnSpPr>
            <a:stCxn id="18" idx="2"/>
            <a:endCxn id="47" idx="0"/>
          </p:cNvCxnSpPr>
          <p:nvPr/>
        </p:nvCxnSpPr>
        <p:spPr>
          <a:xfrm rot="5400000">
            <a:off x="9701741" y="1312289"/>
            <a:ext cx="715315" cy="1721215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420" name="Group 17419">
            <a:extLst>
              <a:ext uri="{FF2B5EF4-FFF2-40B4-BE49-F238E27FC236}">
                <a16:creationId xmlns:a16="http://schemas.microsoft.com/office/drawing/2014/main" id="{B3412954-518F-FB8D-F042-2D1AC28C8880}"/>
              </a:ext>
            </a:extLst>
          </p:cNvPr>
          <p:cNvGrpSpPr/>
          <p:nvPr/>
        </p:nvGrpSpPr>
        <p:grpSpPr>
          <a:xfrm>
            <a:off x="6866726" y="3719286"/>
            <a:ext cx="1436418" cy="777172"/>
            <a:chOff x="6353892" y="1037523"/>
            <a:chExt cx="4851363" cy="2427252"/>
          </a:xfrm>
        </p:grpSpPr>
        <p:sp>
          <p:nvSpPr>
            <p:cNvPr id="17421" name="Rectangle: Rounded Corners 17420">
              <a:extLst>
                <a:ext uri="{FF2B5EF4-FFF2-40B4-BE49-F238E27FC236}">
                  <a16:creationId xmlns:a16="http://schemas.microsoft.com/office/drawing/2014/main" id="{129D5508-352D-2531-ACC7-374977A5D8C7}"/>
                </a:ext>
              </a:extLst>
            </p:cNvPr>
            <p:cNvSpPr/>
            <p:nvPr/>
          </p:nvSpPr>
          <p:spPr>
            <a:xfrm>
              <a:off x="6353892" y="1037523"/>
              <a:ext cx="4851363" cy="2427252"/>
            </a:xfrm>
            <a:prstGeom prst="roundRect">
              <a:avLst/>
            </a:prstGeom>
            <a:noFill/>
            <a:ln>
              <a:solidFill>
                <a:srgbClr val="01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IN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7422" name="Oval 17421">
              <a:extLst>
                <a:ext uri="{FF2B5EF4-FFF2-40B4-BE49-F238E27FC236}">
                  <a16:creationId xmlns:a16="http://schemas.microsoft.com/office/drawing/2014/main" id="{F5A932CD-87CD-2E23-7813-B5B53449C003}"/>
                </a:ext>
              </a:extLst>
            </p:cNvPr>
            <p:cNvSpPr/>
            <p:nvPr/>
          </p:nvSpPr>
          <p:spPr>
            <a:xfrm>
              <a:off x="6464931" y="1446663"/>
              <a:ext cx="1644968" cy="1804964"/>
            </a:xfrm>
            <a:prstGeom prst="ellipse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23" name="TextBox 17422">
              <a:extLst>
                <a:ext uri="{FF2B5EF4-FFF2-40B4-BE49-F238E27FC236}">
                  <a16:creationId xmlns:a16="http://schemas.microsoft.com/office/drawing/2014/main" id="{4EA4C753-4503-ECCA-8C1D-5FADD6CB9BAD}"/>
                </a:ext>
              </a:extLst>
            </p:cNvPr>
            <p:cNvSpPr txBox="1"/>
            <p:nvPr/>
          </p:nvSpPr>
          <p:spPr>
            <a:xfrm>
              <a:off x="7958152" y="1642668"/>
              <a:ext cx="3053382" cy="1153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b="1" dirty="0"/>
                <a:t>MySQL</a:t>
              </a:r>
            </a:p>
          </p:txBody>
        </p:sp>
      </p:grpSp>
      <p:grpSp>
        <p:nvGrpSpPr>
          <p:cNvPr id="17424" name="Group 17423">
            <a:extLst>
              <a:ext uri="{FF2B5EF4-FFF2-40B4-BE49-F238E27FC236}">
                <a16:creationId xmlns:a16="http://schemas.microsoft.com/office/drawing/2014/main" id="{6E9ED50A-CE7D-BBAC-ADD9-BBF5A282C399}"/>
              </a:ext>
            </a:extLst>
          </p:cNvPr>
          <p:cNvGrpSpPr/>
          <p:nvPr/>
        </p:nvGrpSpPr>
        <p:grpSpPr>
          <a:xfrm>
            <a:off x="8586313" y="3665911"/>
            <a:ext cx="1475862" cy="777172"/>
            <a:chOff x="6311918" y="1179965"/>
            <a:chExt cx="4984580" cy="2427252"/>
          </a:xfrm>
        </p:grpSpPr>
        <p:sp>
          <p:nvSpPr>
            <p:cNvPr id="17425" name="Rectangle: Rounded Corners 17424">
              <a:extLst>
                <a:ext uri="{FF2B5EF4-FFF2-40B4-BE49-F238E27FC236}">
                  <a16:creationId xmlns:a16="http://schemas.microsoft.com/office/drawing/2014/main" id="{17944726-3B07-EC03-788F-889C4E80D9E9}"/>
                </a:ext>
              </a:extLst>
            </p:cNvPr>
            <p:cNvSpPr/>
            <p:nvPr/>
          </p:nvSpPr>
          <p:spPr>
            <a:xfrm>
              <a:off x="6311918" y="1179965"/>
              <a:ext cx="4851363" cy="2427252"/>
            </a:xfrm>
            <a:prstGeom prst="roundRect">
              <a:avLst/>
            </a:prstGeom>
            <a:noFill/>
            <a:ln>
              <a:solidFill>
                <a:srgbClr val="010000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IN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7426" name="Oval 17425">
              <a:extLst>
                <a:ext uri="{FF2B5EF4-FFF2-40B4-BE49-F238E27FC236}">
                  <a16:creationId xmlns:a16="http://schemas.microsoft.com/office/drawing/2014/main" id="{D299F6FC-AC85-B5AA-10B1-7464294EC6E5}"/>
                </a:ext>
              </a:extLst>
            </p:cNvPr>
            <p:cNvSpPr/>
            <p:nvPr/>
          </p:nvSpPr>
          <p:spPr>
            <a:xfrm>
              <a:off x="6515143" y="1460992"/>
              <a:ext cx="1644967" cy="1804964"/>
            </a:xfrm>
            <a:prstGeom prst="ellipse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427" name="TextBox 17426">
              <a:extLst>
                <a:ext uri="{FF2B5EF4-FFF2-40B4-BE49-F238E27FC236}">
                  <a16:creationId xmlns:a16="http://schemas.microsoft.com/office/drawing/2014/main" id="{B7A4BC65-9B61-8BAD-5856-4AB80E3B0CAB}"/>
                </a:ext>
              </a:extLst>
            </p:cNvPr>
            <p:cNvSpPr txBox="1"/>
            <p:nvPr/>
          </p:nvSpPr>
          <p:spPr>
            <a:xfrm>
              <a:off x="7890087" y="1793396"/>
              <a:ext cx="3406411" cy="1249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2000" dirty="0">
                  <a:ln>
                    <a:solidFill>
                      <a:sysClr val="windowText" lastClr="000000"/>
                    </a:solidFill>
                  </a:ln>
                </a:rPr>
                <a:t>FCM</a:t>
              </a:r>
            </a:p>
          </p:txBody>
        </p:sp>
      </p:grpSp>
      <p:sp>
        <p:nvSpPr>
          <p:cNvPr id="17429" name="Rectangle: Rounded Corners 17428">
            <a:extLst>
              <a:ext uri="{FF2B5EF4-FFF2-40B4-BE49-F238E27FC236}">
                <a16:creationId xmlns:a16="http://schemas.microsoft.com/office/drawing/2014/main" id="{996D9B80-9D8A-A3DA-D355-B92DC947308C}"/>
              </a:ext>
            </a:extLst>
          </p:cNvPr>
          <p:cNvSpPr/>
          <p:nvPr/>
        </p:nvSpPr>
        <p:spPr>
          <a:xfrm>
            <a:off x="10221610" y="3766027"/>
            <a:ext cx="1701589" cy="777172"/>
          </a:xfrm>
          <a:prstGeom prst="roundRect">
            <a:avLst/>
          </a:prstGeom>
          <a:noFill/>
          <a:ln>
            <a:solidFill>
              <a:srgbClr val="01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IN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7430" name="Oval 17429">
            <a:extLst>
              <a:ext uri="{FF2B5EF4-FFF2-40B4-BE49-F238E27FC236}">
                <a16:creationId xmlns:a16="http://schemas.microsoft.com/office/drawing/2014/main" id="{D241C482-DD16-353D-0276-304E5E909C78}"/>
              </a:ext>
            </a:extLst>
          </p:cNvPr>
          <p:cNvSpPr/>
          <p:nvPr/>
        </p:nvSpPr>
        <p:spPr>
          <a:xfrm>
            <a:off x="10270732" y="3792238"/>
            <a:ext cx="487051" cy="577924"/>
          </a:xfrm>
          <a:prstGeom prst="ellipse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BD5612A8-BA56-58F5-FF2F-BAFF7598357A}"/>
              </a:ext>
            </a:extLst>
          </p:cNvPr>
          <p:cNvSpPr txBox="1"/>
          <p:nvPr/>
        </p:nvSpPr>
        <p:spPr>
          <a:xfrm>
            <a:off x="10727618" y="3884911"/>
            <a:ext cx="122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400" b="1" dirty="0"/>
              <a:t>Google Mapas API</a:t>
            </a:r>
          </a:p>
        </p:txBody>
      </p:sp>
      <p:sp>
        <p:nvSpPr>
          <p:cNvPr id="17506" name="Rectangle: Rounded Corners 17505">
            <a:extLst>
              <a:ext uri="{FF2B5EF4-FFF2-40B4-BE49-F238E27FC236}">
                <a16:creationId xmlns:a16="http://schemas.microsoft.com/office/drawing/2014/main" id="{E71416E2-2721-E869-7770-2BFC1A7E73A4}"/>
              </a:ext>
            </a:extLst>
          </p:cNvPr>
          <p:cNvSpPr/>
          <p:nvPr/>
        </p:nvSpPr>
        <p:spPr>
          <a:xfrm>
            <a:off x="3863460" y="6099827"/>
            <a:ext cx="799518" cy="776526"/>
          </a:xfrm>
          <a:prstGeom prst="roundRect">
            <a:avLst/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433" name="Connector: Elbow 17432">
            <a:extLst>
              <a:ext uri="{FF2B5EF4-FFF2-40B4-BE49-F238E27FC236}">
                <a16:creationId xmlns:a16="http://schemas.microsoft.com/office/drawing/2014/main" id="{08EF8B3B-8B5E-B106-3C05-1731A1E31527}"/>
              </a:ext>
            </a:extLst>
          </p:cNvPr>
          <p:cNvCxnSpPr>
            <a:stCxn id="47" idx="2"/>
            <a:endCxn id="17421" idx="0"/>
          </p:cNvCxnSpPr>
          <p:nvPr/>
        </p:nvCxnSpPr>
        <p:spPr>
          <a:xfrm rot="5400000">
            <a:off x="8066356" y="2586851"/>
            <a:ext cx="651015" cy="1613855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5" name="Connector: Elbow 17434">
            <a:extLst>
              <a:ext uri="{FF2B5EF4-FFF2-40B4-BE49-F238E27FC236}">
                <a16:creationId xmlns:a16="http://schemas.microsoft.com/office/drawing/2014/main" id="{DADD0187-BFD0-AF3A-89D2-1B0B82B2358D}"/>
              </a:ext>
            </a:extLst>
          </p:cNvPr>
          <p:cNvCxnSpPr>
            <a:stCxn id="47" idx="2"/>
            <a:endCxn id="17429" idx="0"/>
          </p:cNvCxnSpPr>
          <p:nvPr/>
        </p:nvCxnSpPr>
        <p:spPr>
          <a:xfrm rot="16200000" flipH="1">
            <a:off x="9786719" y="2480341"/>
            <a:ext cx="697756" cy="1873615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7" name="Connector: Elbow 17436">
            <a:extLst>
              <a:ext uri="{FF2B5EF4-FFF2-40B4-BE49-F238E27FC236}">
                <a16:creationId xmlns:a16="http://schemas.microsoft.com/office/drawing/2014/main" id="{47339A31-072F-C0A9-4DA2-4EF790D5692D}"/>
              </a:ext>
            </a:extLst>
          </p:cNvPr>
          <p:cNvCxnSpPr>
            <a:stCxn id="47" idx="2"/>
            <a:endCxn id="17425" idx="0"/>
          </p:cNvCxnSpPr>
          <p:nvPr/>
        </p:nvCxnSpPr>
        <p:spPr>
          <a:xfrm rot="16200000" flipH="1">
            <a:off x="8952836" y="3314225"/>
            <a:ext cx="597640" cy="105732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: Elbow 17441">
            <a:extLst>
              <a:ext uri="{FF2B5EF4-FFF2-40B4-BE49-F238E27FC236}">
                <a16:creationId xmlns:a16="http://schemas.microsoft.com/office/drawing/2014/main" id="{DB5E82EB-A37E-30F7-8DFE-DFB79A93BA02}"/>
              </a:ext>
            </a:extLst>
          </p:cNvPr>
          <p:cNvCxnSpPr>
            <a:stCxn id="17421" idx="2"/>
            <a:endCxn id="48" idx="0"/>
          </p:cNvCxnSpPr>
          <p:nvPr/>
        </p:nvCxnSpPr>
        <p:spPr>
          <a:xfrm rot="16200000" flipH="1">
            <a:off x="8148862" y="3932531"/>
            <a:ext cx="490244" cy="1618098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4" name="Connector: Elbow 17443">
            <a:extLst>
              <a:ext uri="{FF2B5EF4-FFF2-40B4-BE49-F238E27FC236}">
                <a16:creationId xmlns:a16="http://schemas.microsoft.com/office/drawing/2014/main" id="{E44DA6F0-5C6F-2A80-1558-764E3AADD26F}"/>
              </a:ext>
            </a:extLst>
          </p:cNvPr>
          <p:cNvCxnSpPr>
            <a:stCxn id="17425" idx="2"/>
            <a:endCxn id="48" idx="0"/>
          </p:cNvCxnSpPr>
          <p:nvPr/>
        </p:nvCxnSpPr>
        <p:spPr>
          <a:xfrm rot="5400000">
            <a:off x="8981969" y="4664148"/>
            <a:ext cx="543619" cy="101489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6" name="Connector: Elbow 17445">
            <a:extLst>
              <a:ext uri="{FF2B5EF4-FFF2-40B4-BE49-F238E27FC236}">
                <a16:creationId xmlns:a16="http://schemas.microsoft.com/office/drawing/2014/main" id="{11116D6D-E552-326C-8321-F621129D5032}"/>
              </a:ext>
            </a:extLst>
          </p:cNvPr>
          <p:cNvCxnSpPr>
            <a:stCxn id="17429" idx="2"/>
            <a:endCxn id="48" idx="0"/>
          </p:cNvCxnSpPr>
          <p:nvPr/>
        </p:nvCxnSpPr>
        <p:spPr>
          <a:xfrm rot="5400000">
            <a:off x="9915968" y="3830264"/>
            <a:ext cx="443503" cy="1869372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8" name="Connector: Elbow 17447">
            <a:extLst>
              <a:ext uri="{FF2B5EF4-FFF2-40B4-BE49-F238E27FC236}">
                <a16:creationId xmlns:a16="http://schemas.microsoft.com/office/drawing/2014/main" id="{378631A5-E57A-9557-FB8D-95625C0DA6AC}"/>
              </a:ext>
            </a:extLst>
          </p:cNvPr>
          <p:cNvCxnSpPr>
            <a:stCxn id="48" idx="2"/>
            <a:endCxn id="34" idx="0"/>
          </p:cNvCxnSpPr>
          <p:nvPr/>
        </p:nvCxnSpPr>
        <p:spPr>
          <a:xfrm rot="5400000">
            <a:off x="7966995" y="4827577"/>
            <a:ext cx="539196" cy="1932881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0" name="Connector: Elbow 17449">
            <a:extLst>
              <a:ext uri="{FF2B5EF4-FFF2-40B4-BE49-F238E27FC236}">
                <a16:creationId xmlns:a16="http://schemas.microsoft.com/office/drawing/2014/main" id="{3B18C9F8-A153-82C0-1013-CBF38E3ECF91}"/>
              </a:ext>
            </a:extLst>
          </p:cNvPr>
          <p:cNvCxnSpPr>
            <a:stCxn id="48" idx="2"/>
            <a:endCxn id="38" idx="0"/>
          </p:cNvCxnSpPr>
          <p:nvPr/>
        </p:nvCxnSpPr>
        <p:spPr>
          <a:xfrm rot="5400000">
            <a:off x="8819300" y="5613716"/>
            <a:ext cx="473030" cy="294436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: Elbow 17451">
            <a:extLst>
              <a:ext uri="{FF2B5EF4-FFF2-40B4-BE49-F238E27FC236}">
                <a16:creationId xmlns:a16="http://schemas.microsoft.com/office/drawing/2014/main" id="{4D8B2876-03CA-16D0-D325-F262AD33FBF2}"/>
              </a:ext>
            </a:extLst>
          </p:cNvPr>
          <p:cNvCxnSpPr>
            <a:stCxn id="48" idx="2"/>
            <a:endCxn id="42" idx="0"/>
          </p:cNvCxnSpPr>
          <p:nvPr/>
        </p:nvCxnSpPr>
        <p:spPr>
          <a:xfrm rot="16200000" flipH="1">
            <a:off x="9713895" y="5013557"/>
            <a:ext cx="481888" cy="1503612"/>
          </a:xfrm>
          <a:prstGeom prst="bentConnector3">
            <a:avLst/>
          </a:prstGeom>
          <a:ln>
            <a:solidFill>
              <a:srgbClr val="01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457" name="Group 17456">
            <a:extLst>
              <a:ext uri="{FF2B5EF4-FFF2-40B4-BE49-F238E27FC236}">
                <a16:creationId xmlns:a16="http://schemas.microsoft.com/office/drawing/2014/main" id="{3B3E864F-C9D2-6839-007E-2D9BA580A151}"/>
              </a:ext>
            </a:extLst>
          </p:cNvPr>
          <p:cNvGrpSpPr/>
          <p:nvPr/>
        </p:nvGrpSpPr>
        <p:grpSpPr>
          <a:xfrm>
            <a:off x="6397522" y="2441620"/>
            <a:ext cx="1134288" cy="664411"/>
            <a:chOff x="3646626" y="2083287"/>
            <a:chExt cx="2982706" cy="3107533"/>
          </a:xfrm>
        </p:grpSpPr>
        <p:grpSp>
          <p:nvGrpSpPr>
            <p:cNvPr id="17455" name="Group 17454">
              <a:extLst>
                <a:ext uri="{FF2B5EF4-FFF2-40B4-BE49-F238E27FC236}">
                  <a16:creationId xmlns:a16="http://schemas.microsoft.com/office/drawing/2014/main" id="{3A847BEB-19F5-4679-DF90-5E0831ADAF93}"/>
                </a:ext>
              </a:extLst>
            </p:cNvPr>
            <p:cNvGrpSpPr/>
            <p:nvPr/>
          </p:nvGrpSpPr>
          <p:grpSpPr>
            <a:xfrm>
              <a:off x="3646626" y="2083287"/>
              <a:ext cx="2982706" cy="3107533"/>
              <a:chOff x="3646626" y="2083287"/>
              <a:chExt cx="2982706" cy="3107533"/>
            </a:xfrm>
          </p:grpSpPr>
          <p:sp>
            <p:nvSpPr>
              <p:cNvPr id="17453" name="Oval 17452">
                <a:extLst>
                  <a:ext uri="{FF2B5EF4-FFF2-40B4-BE49-F238E27FC236}">
                    <a16:creationId xmlns:a16="http://schemas.microsoft.com/office/drawing/2014/main" id="{69E1DA1C-255E-A4B7-4062-AB54C2F2B5CC}"/>
                  </a:ext>
                </a:extLst>
              </p:cNvPr>
              <p:cNvSpPr/>
              <p:nvPr/>
            </p:nvSpPr>
            <p:spPr>
              <a:xfrm>
                <a:off x="3646626" y="2083287"/>
                <a:ext cx="2982706" cy="3107533"/>
              </a:xfrm>
              <a:prstGeom prst="ellipse">
                <a:avLst/>
              </a:prstGeom>
              <a:noFill/>
              <a:ln>
                <a:solidFill>
                  <a:srgbClr val="01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54" name="Oval 17453">
                <a:extLst>
                  <a:ext uri="{FF2B5EF4-FFF2-40B4-BE49-F238E27FC236}">
                    <a16:creationId xmlns:a16="http://schemas.microsoft.com/office/drawing/2014/main" id="{6544C028-B574-DB4A-C097-06F7F2460B1A}"/>
                  </a:ext>
                </a:extLst>
              </p:cNvPr>
              <p:cNvSpPr/>
              <p:nvPr/>
            </p:nvSpPr>
            <p:spPr>
              <a:xfrm>
                <a:off x="3794371" y="2803636"/>
                <a:ext cx="803671" cy="1523886"/>
              </a:xfrm>
              <a:prstGeom prst="ellipse">
                <a:avLst/>
              </a:prstGeom>
              <a:blipFill dpi="0" rotWithShape="1"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7456" name="TextBox 17455">
              <a:extLst>
                <a:ext uri="{FF2B5EF4-FFF2-40B4-BE49-F238E27FC236}">
                  <a16:creationId xmlns:a16="http://schemas.microsoft.com/office/drawing/2014/main" id="{EEF25AD3-786A-793C-3881-1DA176FF5C6F}"/>
                </a:ext>
              </a:extLst>
            </p:cNvPr>
            <p:cNvSpPr txBox="1"/>
            <p:nvPr/>
          </p:nvSpPr>
          <p:spPr>
            <a:xfrm>
              <a:off x="4741815" y="2981273"/>
              <a:ext cx="1633015" cy="1523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050" b="1" dirty="0"/>
                <a:t>Python Django</a:t>
              </a:r>
            </a:p>
          </p:txBody>
        </p:sp>
      </p:grpSp>
      <p:grpSp>
        <p:nvGrpSpPr>
          <p:cNvPr id="17458" name="Group 17457">
            <a:extLst>
              <a:ext uri="{FF2B5EF4-FFF2-40B4-BE49-F238E27FC236}">
                <a16:creationId xmlns:a16="http://schemas.microsoft.com/office/drawing/2014/main" id="{1764ADD6-AA7F-6594-C681-30F6D95F9AC2}"/>
              </a:ext>
            </a:extLst>
          </p:cNvPr>
          <p:cNvGrpSpPr/>
          <p:nvPr/>
        </p:nvGrpSpPr>
        <p:grpSpPr>
          <a:xfrm>
            <a:off x="10837696" y="2464702"/>
            <a:ext cx="1134288" cy="664411"/>
            <a:chOff x="3646626" y="2083287"/>
            <a:chExt cx="2982706" cy="3107533"/>
          </a:xfrm>
        </p:grpSpPr>
        <p:grpSp>
          <p:nvGrpSpPr>
            <p:cNvPr id="17459" name="Group 17458">
              <a:extLst>
                <a:ext uri="{FF2B5EF4-FFF2-40B4-BE49-F238E27FC236}">
                  <a16:creationId xmlns:a16="http://schemas.microsoft.com/office/drawing/2014/main" id="{ED4483C6-F0B5-C1AE-90C7-EF08E6D902A8}"/>
                </a:ext>
              </a:extLst>
            </p:cNvPr>
            <p:cNvGrpSpPr/>
            <p:nvPr/>
          </p:nvGrpSpPr>
          <p:grpSpPr>
            <a:xfrm>
              <a:off x="3646626" y="2083287"/>
              <a:ext cx="2982706" cy="3107533"/>
              <a:chOff x="3646626" y="2083287"/>
              <a:chExt cx="2982706" cy="3107533"/>
            </a:xfrm>
          </p:grpSpPr>
          <p:sp>
            <p:nvSpPr>
              <p:cNvPr id="17461" name="Oval 17460">
                <a:extLst>
                  <a:ext uri="{FF2B5EF4-FFF2-40B4-BE49-F238E27FC236}">
                    <a16:creationId xmlns:a16="http://schemas.microsoft.com/office/drawing/2014/main" id="{59F3D4F8-84B9-1F12-0386-7EB4403B654A}"/>
                  </a:ext>
                </a:extLst>
              </p:cNvPr>
              <p:cNvSpPr/>
              <p:nvPr/>
            </p:nvSpPr>
            <p:spPr>
              <a:xfrm>
                <a:off x="3646626" y="2083287"/>
                <a:ext cx="2982706" cy="3107533"/>
              </a:xfrm>
              <a:prstGeom prst="ellipse">
                <a:avLst/>
              </a:prstGeom>
              <a:noFill/>
              <a:ln>
                <a:solidFill>
                  <a:srgbClr val="01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62" name="Oval 17461">
                <a:extLst>
                  <a:ext uri="{FF2B5EF4-FFF2-40B4-BE49-F238E27FC236}">
                    <a16:creationId xmlns:a16="http://schemas.microsoft.com/office/drawing/2014/main" id="{55B300C0-014E-7789-B6DB-B23E34C4360A}"/>
                  </a:ext>
                </a:extLst>
              </p:cNvPr>
              <p:cNvSpPr/>
              <p:nvPr/>
            </p:nvSpPr>
            <p:spPr>
              <a:xfrm>
                <a:off x="3794371" y="2803636"/>
                <a:ext cx="803671" cy="1523886"/>
              </a:xfrm>
              <a:prstGeom prst="ellipse">
                <a:avLst/>
              </a:prstGeom>
              <a:blipFill dpi="0" rotWithShape="1"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7460" name="TextBox 17459">
              <a:extLst>
                <a:ext uri="{FF2B5EF4-FFF2-40B4-BE49-F238E27FC236}">
                  <a16:creationId xmlns:a16="http://schemas.microsoft.com/office/drawing/2014/main" id="{2EFAA7C9-A0BE-5DD0-0402-54CBF0621DD8}"/>
                </a:ext>
              </a:extLst>
            </p:cNvPr>
            <p:cNvSpPr txBox="1"/>
            <p:nvPr/>
          </p:nvSpPr>
          <p:spPr>
            <a:xfrm>
              <a:off x="4741814" y="2981272"/>
              <a:ext cx="1633014" cy="15834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600" b="1" dirty="0"/>
                <a:t>Flask</a:t>
              </a:r>
            </a:p>
          </p:txBody>
        </p:sp>
      </p:grpSp>
      <p:grpSp>
        <p:nvGrpSpPr>
          <p:cNvPr id="17463" name="Group 17462">
            <a:extLst>
              <a:ext uri="{FF2B5EF4-FFF2-40B4-BE49-F238E27FC236}">
                <a16:creationId xmlns:a16="http://schemas.microsoft.com/office/drawing/2014/main" id="{2AB2758A-2172-D02B-AB87-249857190598}"/>
              </a:ext>
            </a:extLst>
          </p:cNvPr>
          <p:cNvGrpSpPr/>
          <p:nvPr/>
        </p:nvGrpSpPr>
        <p:grpSpPr>
          <a:xfrm>
            <a:off x="11003361" y="4874161"/>
            <a:ext cx="1134288" cy="664411"/>
            <a:chOff x="3646626" y="2083287"/>
            <a:chExt cx="2982706" cy="3107533"/>
          </a:xfrm>
        </p:grpSpPr>
        <p:grpSp>
          <p:nvGrpSpPr>
            <p:cNvPr id="17464" name="Group 17463">
              <a:extLst>
                <a:ext uri="{FF2B5EF4-FFF2-40B4-BE49-F238E27FC236}">
                  <a16:creationId xmlns:a16="http://schemas.microsoft.com/office/drawing/2014/main" id="{884D7119-BB4D-B6CF-90A0-67B83F047147}"/>
                </a:ext>
              </a:extLst>
            </p:cNvPr>
            <p:cNvGrpSpPr/>
            <p:nvPr/>
          </p:nvGrpSpPr>
          <p:grpSpPr>
            <a:xfrm>
              <a:off x="3646626" y="2083287"/>
              <a:ext cx="2982706" cy="3107533"/>
              <a:chOff x="3646626" y="2083287"/>
              <a:chExt cx="2982706" cy="3107533"/>
            </a:xfrm>
          </p:grpSpPr>
          <p:sp>
            <p:nvSpPr>
              <p:cNvPr id="17466" name="Oval 17465">
                <a:extLst>
                  <a:ext uri="{FF2B5EF4-FFF2-40B4-BE49-F238E27FC236}">
                    <a16:creationId xmlns:a16="http://schemas.microsoft.com/office/drawing/2014/main" id="{85DF4EB5-2C77-9232-6C3B-FE83AF816BD4}"/>
                  </a:ext>
                </a:extLst>
              </p:cNvPr>
              <p:cNvSpPr/>
              <p:nvPr/>
            </p:nvSpPr>
            <p:spPr>
              <a:xfrm>
                <a:off x="3646626" y="2083287"/>
                <a:ext cx="2982706" cy="3107533"/>
              </a:xfrm>
              <a:prstGeom prst="ellipse">
                <a:avLst/>
              </a:prstGeom>
              <a:noFill/>
              <a:ln>
                <a:solidFill>
                  <a:srgbClr val="01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67" name="Oval 17466">
                <a:extLst>
                  <a:ext uri="{FF2B5EF4-FFF2-40B4-BE49-F238E27FC236}">
                    <a16:creationId xmlns:a16="http://schemas.microsoft.com/office/drawing/2014/main" id="{ADD424B9-3921-95E3-0C17-441531001D0C}"/>
                  </a:ext>
                </a:extLst>
              </p:cNvPr>
              <p:cNvSpPr/>
              <p:nvPr/>
            </p:nvSpPr>
            <p:spPr>
              <a:xfrm>
                <a:off x="4014668" y="3036887"/>
                <a:ext cx="803672" cy="1523887"/>
              </a:xfrm>
              <a:prstGeom prst="ellipse">
                <a:avLst/>
              </a:prstGeom>
              <a:blipFill dpi="0" rotWithShape="1"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7465" name="TextBox 17464">
              <a:extLst>
                <a:ext uri="{FF2B5EF4-FFF2-40B4-BE49-F238E27FC236}">
                  <a16:creationId xmlns:a16="http://schemas.microsoft.com/office/drawing/2014/main" id="{390BE1C5-5F6E-BE7C-EBAE-63BB130E5458}"/>
                </a:ext>
              </a:extLst>
            </p:cNvPr>
            <p:cNvSpPr txBox="1"/>
            <p:nvPr/>
          </p:nvSpPr>
          <p:spPr>
            <a:xfrm>
              <a:off x="4741814" y="2981272"/>
              <a:ext cx="1633014" cy="17274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b="1" dirty="0"/>
                <a:t>CSS</a:t>
              </a:r>
            </a:p>
          </p:txBody>
        </p:sp>
      </p:grpSp>
      <p:grpSp>
        <p:nvGrpSpPr>
          <p:cNvPr id="17468" name="Group 17467">
            <a:extLst>
              <a:ext uri="{FF2B5EF4-FFF2-40B4-BE49-F238E27FC236}">
                <a16:creationId xmlns:a16="http://schemas.microsoft.com/office/drawing/2014/main" id="{33E32A50-F4DB-0E2C-7995-C5675BED8DCF}"/>
              </a:ext>
            </a:extLst>
          </p:cNvPr>
          <p:cNvGrpSpPr/>
          <p:nvPr/>
        </p:nvGrpSpPr>
        <p:grpSpPr>
          <a:xfrm>
            <a:off x="6493899" y="4874161"/>
            <a:ext cx="1134288" cy="664411"/>
            <a:chOff x="3646626" y="2083287"/>
            <a:chExt cx="2982706" cy="3107533"/>
          </a:xfrm>
        </p:grpSpPr>
        <p:grpSp>
          <p:nvGrpSpPr>
            <p:cNvPr id="17469" name="Group 17468">
              <a:extLst>
                <a:ext uri="{FF2B5EF4-FFF2-40B4-BE49-F238E27FC236}">
                  <a16:creationId xmlns:a16="http://schemas.microsoft.com/office/drawing/2014/main" id="{08FD6654-6F8B-EFCD-634B-F99D14EC0439}"/>
                </a:ext>
              </a:extLst>
            </p:cNvPr>
            <p:cNvGrpSpPr/>
            <p:nvPr/>
          </p:nvGrpSpPr>
          <p:grpSpPr>
            <a:xfrm>
              <a:off x="3646626" y="2083287"/>
              <a:ext cx="2982706" cy="3107533"/>
              <a:chOff x="3646626" y="2083287"/>
              <a:chExt cx="2982706" cy="3107533"/>
            </a:xfrm>
          </p:grpSpPr>
          <p:sp>
            <p:nvSpPr>
              <p:cNvPr id="17471" name="Oval 17470">
                <a:extLst>
                  <a:ext uri="{FF2B5EF4-FFF2-40B4-BE49-F238E27FC236}">
                    <a16:creationId xmlns:a16="http://schemas.microsoft.com/office/drawing/2014/main" id="{B6CBC645-75E2-8CDE-9B0A-B0DE32C37008}"/>
                  </a:ext>
                </a:extLst>
              </p:cNvPr>
              <p:cNvSpPr/>
              <p:nvPr/>
            </p:nvSpPr>
            <p:spPr>
              <a:xfrm>
                <a:off x="3646626" y="2083287"/>
                <a:ext cx="2982706" cy="3107533"/>
              </a:xfrm>
              <a:prstGeom prst="ellipse">
                <a:avLst/>
              </a:prstGeom>
              <a:noFill/>
              <a:ln>
                <a:solidFill>
                  <a:srgbClr val="01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7472" name="Oval 17471">
                <a:extLst>
                  <a:ext uri="{FF2B5EF4-FFF2-40B4-BE49-F238E27FC236}">
                    <a16:creationId xmlns:a16="http://schemas.microsoft.com/office/drawing/2014/main" id="{EE22CDEB-79F5-1F07-924A-E05659184ED9}"/>
                  </a:ext>
                </a:extLst>
              </p:cNvPr>
              <p:cNvSpPr/>
              <p:nvPr/>
            </p:nvSpPr>
            <p:spPr>
              <a:xfrm>
                <a:off x="3794371" y="2803636"/>
                <a:ext cx="803671" cy="1523886"/>
              </a:xfrm>
              <a:prstGeom prst="ellipse">
                <a:avLst/>
              </a:prstGeom>
              <a:blipFill dpi="0" rotWithShape="1"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7470" name="TextBox 17469">
              <a:extLst>
                <a:ext uri="{FF2B5EF4-FFF2-40B4-BE49-F238E27FC236}">
                  <a16:creationId xmlns:a16="http://schemas.microsoft.com/office/drawing/2014/main" id="{49172FFD-2F32-0B00-0395-995E8E0D6C99}"/>
                </a:ext>
              </a:extLst>
            </p:cNvPr>
            <p:cNvSpPr txBox="1"/>
            <p:nvPr/>
          </p:nvSpPr>
          <p:spPr>
            <a:xfrm>
              <a:off x="4457159" y="3043253"/>
              <a:ext cx="2152993" cy="12955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IN" sz="1200" b="1" dirty="0"/>
                <a:t>JavaScript</a:t>
              </a:r>
            </a:p>
          </p:txBody>
        </p:sp>
      </p:grpSp>
      <p:cxnSp>
        <p:nvCxnSpPr>
          <p:cNvPr id="17474" name="Straight Connector 17473">
            <a:extLst>
              <a:ext uri="{FF2B5EF4-FFF2-40B4-BE49-F238E27FC236}">
                <a16:creationId xmlns:a16="http://schemas.microsoft.com/office/drawing/2014/main" id="{69466887-5984-4EC8-0D24-77C3C2B1CE5D}"/>
              </a:ext>
            </a:extLst>
          </p:cNvPr>
          <p:cNvCxnSpPr>
            <a:cxnSpLocks/>
            <a:stCxn id="17453" idx="6"/>
            <a:endCxn id="47" idx="1"/>
          </p:cNvCxnSpPr>
          <p:nvPr/>
        </p:nvCxnSpPr>
        <p:spPr>
          <a:xfrm>
            <a:off x="7531810" y="2773826"/>
            <a:ext cx="760850" cy="25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7" name="Straight Connector 17476">
            <a:extLst>
              <a:ext uri="{FF2B5EF4-FFF2-40B4-BE49-F238E27FC236}">
                <a16:creationId xmlns:a16="http://schemas.microsoft.com/office/drawing/2014/main" id="{8D5D79C4-FF46-1823-29CE-1BC272F232BB}"/>
              </a:ext>
            </a:extLst>
          </p:cNvPr>
          <p:cNvCxnSpPr>
            <a:stCxn id="47" idx="3"/>
            <a:endCxn id="17461" idx="2"/>
          </p:cNvCxnSpPr>
          <p:nvPr/>
        </p:nvCxnSpPr>
        <p:spPr>
          <a:xfrm flipV="1">
            <a:off x="10104919" y="2796908"/>
            <a:ext cx="732777" cy="2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9" name="Straight Connector 17478">
            <a:extLst>
              <a:ext uri="{FF2B5EF4-FFF2-40B4-BE49-F238E27FC236}">
                <a16:creationId xmlns:a16="http://schemas.microsoft.com/office/drawing/2014/main" id="{8F5847A8-7818-D747-96B0-240B67EBEE78}"/>
              </a:ext>
            </a:extLst>
          </p:cNvPr>
          <p:cNvCxnSpPr>
            <a:stCxn id="17471" idx="6"/>
            <a:endCxn id="48" idx="1"/>
          </p:cNvCxnSpPr>
          <p:nvPr/>
        </p:nvCxnSpPr>
        <p:spPr>
          <a:xfrm>
            <a:off x="7628187" y="5206367"/>
            <a:ext cx="426803" cy="491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1" name="Straight Connector 17480">
            <a:extLst>
              <a:ext uri="{FF2B5EF4-FFF2-40B4-BE49-F238E27FC236}">
                <a16:creationId xmlns:a16="http://schemas.microsoft.com/office/drawing/2014/main" id="{ABF67191-337B-ADCE-0E8D-89AA4FCCC2CE}"/>
              </a:ext>
            </a:extLst>
          </p:cNvPr>
          <p:cNvCxnSpPr>
            <a:stCxn id="48" idx="3"/>
            <a:endCxn id="17466" idx="2"/>
          </p:cNvCxnSpPr>
          <p:nvPr/>
        </p:nvCxnSpPr>
        <p:spPr>
          <a:xfrm flipV="1">
            <a:off x="10351076" y="5206367"/>
            <a:ext cx="652285" cy="49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83" name="Picture 17482">
            <a:extLst>
              <a:ext uri="{FF2B5EF4-FFF2-40B4-BE49-F238E27FC236}">
                <a16:creationId xmlns:a16="http://schemas.microsoft.com/office/drawing/2014/main" id="{BAD79732-86E0-59A1-1644-B680C71DD7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7602" y="5333800"/>
            <a:ext cx="648689" cy="655342"/>
          </a:xfrm>
          <a:prstGeom prst="rect">
            <a:avLst/>
          </a:prstGeom>
        </p:spPr>
      </p:pic>
      <p:pic>
        <p:nvPicPr>
          <p:cNvPr id="17485" name="Picture 17484">
            <a:extLst>
              <a:ext uri="{FF2B5EF4-FFF2-40B4-BE49-F238E27FC236}">
                <a16:creationId xmlns:a16="http://schemas.microsoft.com/office/drawing/2014/main" id="{430E4078-E4D8-A97D-3AD8-118C8B0102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0089" y="5358290"/>
            <a:ext cx="655371" cy="721659"/>
          </a:xfrm>
          <a:prstGeom prst="rect">
            <a:avLst/>
          </a:prstGeom>
        </p:spPr>
      </p:pic>
      <p:pic>
        <p:nvPicPr>
          <p:cNvPr id="17487" name="Picture 17486">
            <a:extLst>
              <a:ext uri="{FF2B5EF4-FFF2-40B4-BE49-F238E27FC236}">
                <a16:creationId xmlns:a16="http://schemas.microsoft.com/office/drawing/2014/main" id="{23936BAE-D346-C7C2-33CC-01F10B6E5B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1766" y="5396013"/>
            <a:ext cx="723891" cy="628433"/>
          </a:xfrm>
          <a:prstGeom prst="rect">
            <a:avLst/>
          </a:prstGeom>
        </p:spPr>
      </p:pic>
      <p:pic>
        <p:nvPicPr>
          <p:cNvPr id="17489" name="Picture 17488">
            <a:extLst>
              <a:ext uri="{FF2B5EF4-FFF2-40B4-BE49-F238E27FC236}">
                <a16:creationId xmlns:a16="http://schemas.microsoft.com/office/drawing/2014/main" id="{626F9F41-CD5E-AECD-965B-9A5AA7B34B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5442" y="5411850"/>
            <a:ext cx="510698" cy="664624"/>
          </a:xfrm>
          <a:prstGeom prst="rect">
            <a:avLst/>
          </a:prstGeom>
        </p:spPr>
      </p:pic>
      <p:pic>
        <p:nvPicPr>
          <p:cNvPr id="17491" name="Picture 17490">
            <a:extLst>
              <a:ext uri="{FF2B5EF4-FFF2-40B4-BE49-F238E27FC236}">
                <a16:creationId xmlns:a16="http://schemas.microsoft.com/office/drawing/2014/main" id="{67DC06F1-16CD-355B-2524-76AF2F5997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36771" y="5363134"/>
            <a:ext cx="937242" cy="762057"/>
          </a:xfrm>
          <a:prstGeom prst="rect">
            <a:avLst/>
          </a:prstGeom>
        </p:spPr>
      </p:pic>
      <p:pic>
        <p:nvPicPr>
          <p:cNvPr id="17493" name="Picture 17492">
            <a:extLst>
              <a:ext uri="{FF2B5EF4-FFF2-40B4-BE49-F238E27FC236}">
                <a16:creationId xmlns:a16="http://schemas.microsoft.com/office/drawing/2014/main" id="{82AF11C1-3AE4-F489-BAFE-5F5C395EF3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8007" y="5369387"/>
            <a:ext cx="801316" cy="798663"/>
          </a:xfrm>
          <a:prstGeom prst="rect">
            <a:avLst/>
          </a:prstGeom>
        </p:spPr>
      </p:pic>
      <p:pic>
        <p:nvPicPr>
          <p:cNvPr id="17495" name="Picture 17494">
            <a:extLst>
              <a:ext uri="{FF2B5EF4-FFF2-40B4-BE49-F238E27FC236}">
                <a16:creationId xmlns:a16="http://schemas.microsoft.com/office/drawing/2014/main" id="{4500C86A-783B-A9D2-6CE0-F709F58754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7938" y="5330715"/>
            <a:ext cx="803924" cy="848432"/>
          </a:xfrm>
          <a:prstGeom prst="rect">
            <a:avLst/>
          </a:prstGeom>
        </p:spPr>
      </p:pic>
      <p:pic>
        <p:nvPicPr>
          <p:cNvPr id="17497" name="Picture 17496">
            <a:extLst>
              <a:ext uri="{FF2B5EF4-FFF2-40B4-BE49-F238E27FC236}">
                <a16:creationId xmlns:a16="http://schemas.microsoft.com/office/drawing/2014/main" id="{E383AB34-0221-2863-7C07-570F82F0525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3227" y="6239469"/>
            <a:ext cx="432119" cy="443719"/>
          </a:xfrm>
          <a:prstGeom prst="rect">
            <a:avLst/>
          </a:prstGeom>
        </p:spPr>
      </p:pic>
      <p:pic>
        <p:nvPicPr>
          <p:cNvPr id="17499" name="Picture 17498">
            <a:extLst>
              <a:ext uri="{FF2B5EF4-FFF2-40B4-BE49-F238E27FC236}">
                <a16:creationId xmlns:a16="http://schemas.microsoft.com/office/drawing/2014/main" id="{382DB622-30DC-BACB-4C18-7B9CC6719B9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69840" y="6186066"/>
            <a:ext cx="523852" cy="518648"/>
          </a:xfrm>
          <a:prstGeom prst="rect">
            <a:avLst/>
          </a:prstGeom>
        </p:spPr>
      </p:pic>
      <p:pic>
        <p:nvPicPr>
          <p:cNvPr id="17501" name="Picture 17500">
            <a:extLst>
              <a:ext uri="{FF2B5EF4-FFF2-40B4-BE49-F238E27FC236}">
                <a16:creationId xmlns:a16="http://schemas.microsoft.com/office/drawing/2014/main" id="{C39FFC6A-9D1E-072C-AB2C-F5E4AB09515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14545" y="6165993"/>
            <a:ext cx="548137" cy="570687"/>
          </a:xfrm>
          <a:prstGeom prst="rect">
            <a:avLst/>
          </a:prstGeom>
        </p:spPr>
      </p:pic>
      <p:pic>
        <p:nvPicPr>
          <p:cNvPr id="17503" name="Picture 17502">
            <a:extLst>
              <a:ext uri="{FF2B5EF4-FFF2-40B4-BE49-F238E27FC236}">
                <a16:creationId xmlns:a16="http://schemas.microsoft.com/office/drawing/2014/main" id="{C271A1B4-0834-5B56-CD8D-367FCAE0F32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34945" y="6143065"/>
            <a:ext cx="637648" cy="631556"/>
          </a:xfrm>
          <a:prstGeom prst="rect">
            <a:avLst/>
          </a:prstGeom>
        </p:spPr>
      </p:pic>
      <p:pic>
        <p:nvPicPr>
          <p:cNvPr id="17505" name="Picture 17504">
            <a:extLst>
              <a:ext uri="{FF2B5EF4-FFF2-40B4-BE49-F238E27FC236}">
                <a16:creationId xmlns:a16="http://schemas.microsoft.com/office/drawing/2014/main" id="{776BC5E4-4629-8641-BD18-EC7DADDF24A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5293" y="6190244"/>
            <a:ext cx="716569" cy="666000"/>
          </a:xfrm>
          <a:prstGeom prst="rect">
            <a:avLst/>
          </a:prstGeom>
        </p:spPr>
      </p:pic>
      <p:pic>
        <p:nvPicPr>
          <p:cNvPr id="17508" name="Picture 17507">
            <a:extLst>
              <a:ext uri="{FF2B5EF4-FFF2-40B4-BE49-F238E27FC236}">
                <a16:creationId xmlns:a16="http://schemas.microsoft.com/office/drawing/2014/main" id="{C2FDA38B-0FD6-741D-535F-7E3D091C99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2577" y="6266029"/>
            <a:ext cx="542690" cy="470651"/>
          </a:xfrm>
          <a:prstGeom prst="rect">
            <a:avLst/>
          </a:prstGeom>
        </p:spPr>
      </p:pic>
      <p:sp>
        <p:nvSpPr>
          <p:cNvPr id="17510" name="Oval 17509" descr="Your startup LOGO">
            <a:extLst>
              <a:ext uri="{FF2B5EF4-FFF2-40B4-BE49-F238E27FC236}">
                <a16:creationId xmlns:a16="http://schemas.microsoft.com/office/drawing/2014/main" id="{393E5134-CFF1-451F-6BDC-8C64BBBB6E9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2269150" cy="71386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SafeRouteTech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0BFF7F-4BFC-7C36-7A1A-9EFCC411971E}"/>
              </a:ext>
            </a:extLst>
          </p:cNvPr>
          <p:cNvSpPr txBox="1"/>
          <p:nvPr/>
        </p:nvSpPr>
        <p:spPr>
          <a:xfrm>
            <a:off x="556260" y="91726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300000"/>
              <a:buBlip>
                <a:blip r:embed="rId4"/>
              </a:buBlip>
            </a:pPr>
            <a:r>
              <a:rPr lang="en-IN" b="1" dirty="0"/>
              <a:t>Feasibility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Uses existing technologies (mobile apps, cloud, GPS, maps)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Disaster alerts can be integrated from government or authorized sources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Real-time notifications via SMS and push alerts are technically reliable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Easy to deploy and maintain with minimal infrastructure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CABA51-278F-585C-5884-CC6731EA8F24}"/>
              </a:ext>
            </a:extLst>
          </p:cNvPr>
          <p:cNvSpPr txBox="1"/>
          <p:nvPr/>
        </p:nvSpPr>
        <p:spPr>
          <a:xfrm>
            <a:off x="502920" y="534723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250000"/>
              <a:buBlip>
                <a:blip r:embed="rId5"/>
              </a:buBlip>
            </a:pPr>
            <a:r>
              <a:rPr lang="en-IN" b="1" dirty="0"/>
              <a:t>Challenges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Dependence on accurate and timely disaster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Internet or power failure during severe disasters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User training and awareness adoption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Data privacy and security concerns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111575-5E64-01CF-6592-0372F0EB6D8E}"/>
              </a:ext>
            </a:extLst>
          </p:cNvPr>
          <p:cNvSpPr txBox="1"/>
          <p:nvPr/>
        </p:nvSpPr>
        <p:spPr>
          <a:xfrm>
            <a:off x="6652260" y="1174281"/>
            <a:ext cx="5044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250000"/>
              <a:buBlip>
                <a:blip r:embed="rId6"/>
              </a:buBlip>
            </a:pPr>
            <a:r>
              <a:rPr lang="en-IN" b="1" dirty="0"/>
              <a:t>Use Cases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Flood evacuation guidance for schools in low-lying areas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Earthquake response and safe assembly mapping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Fire emergency evacuation in campuses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Mock drills and disaster preparedness training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C2BCD1-12FB-F0C2-8A49-17CC455566A7}"/>
              </a:ext>
            </a:extLst>
          </p:cNvPr>
          <p:cNvSpPr txBox="1"/>
          <p:nvPr/>
        </p:nvSpPr>
        <p:spPr>
          <a:xfrm>
            <a:off x="6652260" y="3513896"/>
            <a:ext cx="52578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250000"/>
              <a:buBlip>
                <a:blip r:embed="rId7"/>
              </a:buBlip>
            </a:pPr>
            <a:r>
              <a:rPr lang="en-IN" b="1" dirty="0"/>
              <a:t>Business Potential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Subscription model for schools and colleges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Government and education board partnerships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Licensing to private institutions and universities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Potential integration with insurance and disaster management agencies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C251D8-49BF-7CA8-CDFE-E216BB8BBEF8}"/>
              </a:ext>
            </a:extLst>
          </p:cNvPr>
          <p:cNvSpPr txBox="1"/>
          <p:nvPr/>
        </p:nvSpPr>
        <p:spPr>
          <a:xfrm>
            <a:off x="502920" y="3236944"/>
            <a:ext cx="62026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SzPct val="250000"/>
              <a:buBlip>
                <a:blip r:embed="rId8"/>
              </a:buBlip>
            </a:pPr>
            <a:r>
              <a:rPr lang="en-IN" b="1" dirty="0"/>
              <a:t>Viability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High relevance due to increasing natural disasters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Suitable for schools and colleges as part of safety compliance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Scalable from institution level to city or state level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Long-term usability through regular safety training and updates</a:t>
            </a:r>
          </a:p>
        </p:txBody>
      </p:sp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67CCE0E8-DD7E-0BF3-82C1-6430A52A06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2269150" cy="71386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SafeRouteTech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162651" y="-172994"/>
            <a:ext cx="6089246" cy="1038278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3B5C6F68-B005-51A4-8BEB-9C7EA28D1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73" y="3187007"/>
            <a:ext cx="654346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Benefits of the solution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Provides </a:t>
            </a:r>
            <a:r>
              <a:rPr lang="en-IN" b="1" dirty="0"/>
              <a:t>real-time disaster alerts</a:t>
            </a:r>
            <a:r>
              <a:rPr lang="en-IN" dirty="0"/>
              <a:t> to schools and colleges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Guides users with </a:t>
            </a:r>
            <a:r>
              <a:rPr lang="en-IN" b="1" dirty="0"/>
              <a:t>safe evacuation routes using maps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Reduces </a:t>
            </a:r>
            <a:r>
              <a:rPr lang="en-IN" b="1" dirty="0"/>
              <a:t>panic, confusion, and response time</a:t>
            </a:r>
            <a:r>
              <a:rPr lang="en-IN" dirty="0"/>
              <a:t> during emergencies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Improves </a:t>
            </a:r>
            <a:r>
              <a:rPr lang="en-IN" b="1" dirty="0"/>
              <a:t>student and staff safety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Helps teachers and principals take </a:t>
            </a:r>
            <a:r>
              <a:rPr lang="en-IN" b="1" dirty="0"/>
              <a:t>quick and informed decisions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Supports </a:t>
            </a:r>
            <a:r>
              <a:rPr lang="en-IN" b="1" dirty="0"/>
              <a:t>organized evacuation and crowd management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Enhances </a:t>
            </a:r>
            <a:r>
              <a:rPr lang="en-IN" b="1" dirty="0"/>
              <a:t>disaster awareness and preparedness education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Low-cost, scalable, and easy to implement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Works for </a:t>
            </a:r>
            <a:r>
              <a:rPr lang="en-IN" b="1" dirty="0"/>
              <a:t>multiple disaster types</a:t>
            </a:r>
            <a:r>
              <a:rPr lang="en-IN" dirty="0"/>
              <a:t> (flood, fire, earthquake)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Builds </a:t>
            </a:r>
            <a:r>
              <a:rPr lang="en-IN" b="1" dirty="0"/>
              <a:t>trust among parents and authorities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F07179-81EB-6238-1550-C693D172AE13}"/>
              </a:ext>
            </a:extLst>
          </p:cNvPr>
          <p:cNvSpPr txBox="1"/>
          <p:nvPr/>
        </p:nvSpPr>
        <p:spPr>
          <a:xfrm>
            <a:off x="6617362" y="1168592"/>
            <a:ext cx="54331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  <a:endParaRPr lang="en-IN" b="1" dirty="0"/>
          </a:p>
          <a:p>
            <a:pPr lvl="1"/>
            <a:r>
              <a:rPr lang="en-IN" b="1" dirty="0"/>
              <a:t>Students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Faster access to safe evacuation routes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Reduced panic during emergency situations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Improved awareness and understanding of disaster safety</a:t>
            </a:r>
          </a:p>
          <a:p>
            <a:pPr lvl="1"/>
            <a:r>
              <a:rPr lang="en-IN" b="1" dirty="0"/>
              <a:t>Teachers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Instant disaster notifications and clear instructions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Better ability to manage and guide students safely</a:t>
            </a:r>
          </a:p>
          <a:p>
            <a:pPr lvl="1"/>
            <a:r>
              <a:rPr lang="en-IN" b="1" dirty="0"/>
              <a:t>School &amp; College Administration (Principals)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Centralized control and real-time situation awareness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Improved compliance with safety regulations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Faster coordination with local authorities</a:t>
            </a:r>
          </a:p>
          <a:p>
            <a:pPr lvl="1"/>
            <a:r>
              <a:rPr lang="en-IN" b="1" dirty="0"/>
              <a:t>Parents &amp; Guardians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Greater trust in institutional safety systems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dirty="0"/>
              <a:t>Better information flow from institutions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B9792A-A3B7-7AE8-C88D-74AC7CBF1426}"/>
              </a:ext>
            </a:extLst>
          </p:cNvPr>
          <p:cNvSpPr/>
          <p:nvPr/>
        </p:nvSpPr>
        <p:spPr>
          <a:xfrm>
            <a:off x="2290866" y="664750"/>
            <a:ext cx="2621280" cy="67056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Benefits of the solution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ECD5334-0C35-DF65-20A5-512B7222AB9B}"/>
              </a:ext>
            </a:extLst>
          </p:cNvPr>
          <p:cNvSpPr/>
          <p:nvPr/>
        </p:nvSpPr>
        <p:spPr>
          <a:xfrm>
            <a:off x="71588" y="1892242"/>
            <a:ext cx="1635292" cy="604269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Safety improvement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F87472-8F91-6C4E-3FC9-172F0A864DD0}"/>
              </a:ext>
            </a:extLst>
          </p:cNvPr>
          <p:cNvSpPr/>
          <p:nvPr/>
        </p:nvSpPr>
        <p:spPr>
          <a:xfrm>
            <a:off x="1413606" y="2580390"/>
            <a:ext cx="1276830" cy="62484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Faster Response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A01B1E6-91D1-5A65-6458-D42141A99C49}"/>
              </a:ext>
            </a:extLst>
          </p:cNvPr>
          <p:cNvSpPr/>
          <p:nvPr/>
        </p:nvSpPr>
        <p:spPr>
          <a:xfrm>
            <a:off x="2383971" y="1892243"/>
            <a:ext cx="1510041" cy="62484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Panic Reduction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6DD0176-A7E3-ED79-D664-277D1EDE7409}"/>
              </a:ext>
            </a:extLst>
          </p:cNvPr>
          <p:cNvSpPr/>
          <p:nvPr/>
        </p:nvSpPr>
        <p:spPr>
          <a:xfrm>
            <a:off x="3653949" y="2623127"/>
            <a:ext cx="1510041" cy="624840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Institutional Efficiency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36F8959-5A8E-6D0A-9C20-B8B1B09A0582}"/>
              </a:ext>
            </a:extLst>
          </p:cNvPr>
          <p:cNvSpPr/>
          <p:nvPr/>
        </p:nvSpPr>
        <p:spPr>
          <a:xfrm>
            <a:off x="4696353" y="1871672"/>
            <a:ext cx="1510040" cy="62484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Awareness &amp; Education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8A855B-12BF-DC99-4888-F2FA7F1E1C29}"/>
              </a:ext>
            </a:extLst>
          </p:cNvPr>
          <p:cNvSpPr/>
          <p:nvPr/>
        </p:nvSpPr>
        <p:spPr>
          <a:xfrm>
            <a:off x="5925863" y="2606040"/>
            <a:ext cx="972030" cy="624840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Social 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84FEE13-5DB3-5AB6-21BC-E5C95F56E985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rot="5400000">
            <a:off x="1966904" y="257640"/>
            <a:ext cx="556932" cy="271227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74EF1DE3-9B25-260E-38D1-0D55A128A9CE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rot="5400000">
            <a:off x="2204224" y="1183108"/>
            <a:ext cx="1245080" cy="1549485"/>
          </a:xfrm>
          <a:prstGeom prst="bentConnector3">
            <a:avLst>
              <a:gd name="adj1" fmla="val 242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28286E1-A705-4C19-C166-DC5644289CF7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 rot="5400000">
            <a:off x="3091783" y="1382519"/>
            <a:ext cx="556933" cy="46251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FF3D2FA9-55AF-1F47-33AF-43CACA7E429D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rot="16200000" flipH="1">
            <a:off x="3361330" y="1575486"/>
            <a:ext cx="1287817" cy="807464"/>
          </a:xfrm>
          <a:prstGeom prst="bentConnector3">
            <a:avLst>
              <a:gd name="adj1" fmla="val 227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B48DE79-5DFE-6169-9A9B-C0E132546638}"/>
              </a:ext>
            </a:extLst>
          </p:cNvPr>
          <p:cNvCxnSpPr>
            <a:stCxn id="14" idx="2"/>
            <a:endCxn id="19" idx="0"/>
          </p:cNvCxnSpPr>
          <p:nvPr/>
        </p:nvCxnSpPr>
        <p:spPr>
          <a:xfrm rot="16200000" flipH="1">
            <a:off x="4258258" y="678557"/>
            <a:ext cx="536362" cy="184986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9F13307-6918-9AB5-DCAA-FD07B9ADCE0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1327" y="550249"/>
            <a:ext cx="1270730" cy="2810372"/>
          </a:xfrm>
          <a:prstGeom prst="bentConnector3">
            <a:avLst>
              <a:gd name="adj1" fmla="val 236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 descr="Your startup LOGO">
            <a:extLst>
              <a:ext uri="{FF2B5EF4-FFF2-40B4-BE49-F238E27FC236}">
                <a16:creationId xmlns:a16="http://schemas.microsoft.com/office/drawing/2014/main" id="{9E6A955A-FFFC-18FC-D3C6-5DF091C9299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2269150" cy="71386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SafeRouteTech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1514" y="1107037"/>
            <a:ext cx="1240536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Government &amp; Official Sources</a:t>
            </a:r>
          </a:p>
          <a:p>
            <a:pPr lvl="1"/>
            <a:r>
              <a:rPr lang="en-IN" sz="2400" dirty="0"/>
              <a:t>National Disaster Management Authority (NDMA) : </a:t>
            </a:r>
            <a:r>
              <a:rPr lang="en-IN" sz="2400" dirty="0">
                <a:hlinkClick r:id="rId3"/>
              </a:rPr>
              <a:t>https://ndma.gov.in</a:t>
            </a:r>
            <a:br>
              <a:rPr lang="en-IN" sz="2400" dirty="0"/>
            </a:br>
            <a:r>
              <a:rPr lang="en-IN" sz="2400" dirty="0"/>
              <a:t>India Meteorological Department (IMD) : </a:t>
            </a:r>
            <a:r>
              <a:rPr lang="en-IN" sz="2400" dirty="0">
                <a:hlinkClick r:id="rId4"/>
              </a:rPr>
              <a:t>https://mausam.imd.gov.in</a:t>
            </a:r>
            <a:br>
              <a:rPr lang="en-IN" sz="2400" dirty="0"/>
            </a:br>
            <a:r>
              <a:rPr lang="en-IN" sz="2400" dirty="0"/>
              <a:t>National Institute of Disaster Management (NIDM) : </a:t>
            </a:r>
            <a:r>
              <a:rPr lang="en-IN" sz="2400" dirty="0">
                <a:hlinkClick r:id="rId5"/>
              </a:rPr>
              <a:t>https://nidm.gov.in</a:t>
            </a:r>
            <a:endParaRPr lang="en-IN" sz="2400" dirty="0"/>
          </a:p>
          <a:p>
            <a:r>
              <a:rPr lang="en-IN" sz="2800" b="1" dirty="0"/>
              <a:t>International Organizations</a:t>
            </a:r>
          </a:p>
          <a:p>
            <a:pPr lvl="1"/>
            <a:r>
              <a:rPr lang="en-IN" sz="2800" dirty="0"/>
              <a:t>United Nations </a:t>
            </a:r>
            <a:r>
              <a:rPr lang="en-IN" sz="2400" dirty="0"/>
              <a:t>Office for Disaster Risk Reduction (UNDRR) : </a:t>
            </a:r>
            <a:r>
              <a:rPr lang="en-IN" sz="2400" dirty="0">
                <a:hlinkClick r:id="rId6"/>
              </a:rPr>
              <a:t>https://www.undrr.org</a:t>
            </a:r>
            <a:endParaRPr lang="en-IN" sz="2400" dirty="0"/>
          </a:p>
          <a:p>
            <a:pPr lvl="1"/>
            <a:r>
              <a:rPr lang="en-IN" sz="2400" dirty="0"/>
              <a:t>World Health Organization (</a:t>
            </a:r>
            <a:r>
              <a:rPr lang="en-IN" sz="2800" dirty="0"/>
              <a:t>WHO) : </a:t>
            </a:r>
            <a:r>
              <a:rPr lang="en-IN" sz="2800" dirty="0">
                <a:hlinkClick r:id="rId7"/>
              </a:rPr>
              <a:t>https://www.who.int/emergencies</a:t>
            </a:r>
            <a:endParaRPr lang="en-IN" sz="2800" dirty="0"/>
          </a:p>
          <a:p>
            <a:r>
              <a:rPr lang="en-IN" sz="2800" b="1" dirty="0"/>
              <a:t>Technology References</a:t>
            </a:r>
          </a:p>
          <a:p>
            <a:pPr lvl="1"/>
            <a:r>
              <a:rPr lang="en-IN" sz="2400" dirty="0"/>
              <a:t>Google Maps Platform Documentation : </a:t>
            </a:r>
            <a:r>
              <a:rPr lang="en-IN" sz="2400" dirty="0">
                <a:hlinkClick r:id="rId8"/>
              </a:rPr>
              <a:t>https://developers.google.com/maps/documentation</a:t>
            </a:r>
            <a:endParaRPr lang="en-IN" sz="2400" dirty="0"/>
          </a:p>
          <a:p>
            <a:pPr lvl="1"/>
            <a:r>
              <a:rPr lang="en-IN" sz="2400" dirty="0"/>
              <a:t>Firebase Cloud Messaging (Push Notifications) : </a:t>
            </a:r>
            <a:r>
              <a:rPr lang="en-IN" sz="2400" dirty="0">
                <a:hlinkClick r:id="rId9"/>
              </a:rPr>
              <a:t>https://firebase.google.com/docs/cloud-messaging</a:t>
            </a:r>
            <a:endParaRPr lang="en-IN" sz="2400" dirty="0"/>
          </a:p>
          <a:p>
            <a:pPr lvl="1"/>
            <a:r>
              <a:rPr lang="en-IN" sz="2400" dirty="0"/>
              <a:t>OpenStreetMap (Alternative to Google Maps) : </a:t>
            </a:r>
            <a:r>
              <a:rPr lang="en-IN" sz="2400" dirty="0">
                <a:hlinkClick r:id="rId10"/>
              </a:rPr>
              <a:t>https://www.openstreetmap.org</a:t>
            </a:r>
            <a:endParaRPr lang="en-IN" sz="2400" dirty="0"/>
          </a:p>
          <a:p>
            <a:pPr algn="just">
              <a:defRPr/>
            </a:pP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347B816F-5B54-716B-C4AA-DEBA9C7151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2269150" cy="71386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SafeRouteTech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7960</TotalTime>
  <Words>976</Words>
  <Application>Microsoft Office PowerPoint</Application>
  <PresentationFormat>Widescreen</PresentationFormat>
  <Paragraphs>162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SafeRouteTech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SIDHANT KUMAR</cp:lastModifiedBy>
  <cp:revision>161</cp:revision>
  <dcterms:created xsi:type="dcterms:W3CDTF">2013-12-12T18:46:50Z</dcterms:created>
  <dcterms:modified xsi:type="dcterms:W3CDTF">2026-02-18T16:36:22Z</dcterms:modified>
  <cp:category/>
</cp:coreProperties>
</file>